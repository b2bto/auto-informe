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4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3" r:id="rId29"/>
    <p:sldId id="282" r:id="rId3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3" pos="4203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5FA7"/>
    <a:srgbClr val="7E7E7E"/>
    <a:srgbClr val="1F46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9195" autoAdjust="0"/>
    <p:restoredTop sz="96340" autoAdjust="0"/>
  </p:normalViewPr>
  <p:slideViewPr>
    <p:cSldViewPr snapToGrid="0">
      <p:cViewPr varScale="1">
        <p:scale>
          <a:sx n="117" d="100"/>
          <a:sy n="117" d="100"/>
        </p:scale>
        <p:origin x="606" y="102"/>
      </p:cViewPr>
      <p:guideLst>
        <p:guide pos="3840"/>
        <p:guide pos="420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10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CE6B51B-1831-481E-AF61-9F67A90906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C9F06CD-50EE-4DAF-AD3E-0F1FFCF31C1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855BB-C5D2-4F82-B71B-CB3B65D6AB2E}" type="datetimeFigureOut">
              <a:rPr lang="es-ES" smtClean="0"/>
              <a:t>30/07/2026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8BFC951-A027-492A-9F1A-6D9C040735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6681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228F6-8808-4B33-8B78-2B1B437F840E}" type="datetimeFigureOut">
              <a:rPr lang="es-ES" smtClean="0"/>
              <a:t>30/07/2026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481A32-6EFA-48FC-BF40-441D0F29305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6584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8">
            <a:extLst>
              <a:ext uri="{FF2B5EF4-FFF2-40B4-BE49-F238E27FC236}">
                <a16:creationId xmlns:a16="http://schemas.microsoft.com/office/drawing/2014/main" id="{11F865FE-5386-4787-95C7-B13A153E4858}"/>
              </a:ext>
            </a:extLst>
          </p:cNvPr>
          <p:cNvSpPr txBox="1"/>
          <p:nvPr userDrawn="1"/>
        </p:nvSpPr>
        <p:spPr>
          <a:xfrm>
            <a:off x="3795395" y="2107329"/>
            <a:ext cx="46012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VP</a:t>
            </a:r>
            <a:r>
              <a:rPr sz="2000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Calibri"/>
                <a:cs typeface="Calibri"/>
              </a:rPr>
              <a:t>EMPRESAS</a:t>
            </a:r>
            <a:r>
              <a:rPr sz="2000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000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Calibri"/>
                <a:cs typeface="Calibri"/>
              </a:rPr>
              <a:t>CIUDADES</a:t>
            </a:r>
            <a:r>
              <a:rPr sz="2000" spc="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Calibri"/>
                <a:cs typeface="Calibri"/>
              </a:rPr>
              <a:t>INTELIGENTES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44EF84D-A7D9-4701-A250-70DB0353FE8E}"/>
              </a:ext>
            </a:extLst>
          </p:cNvPr>
          <p:cNvSpPr/>
          <p:nvPr userDrawn="1"/>
        </p:nvSpPr>
        <p:spPr>
          <a:xfrm>
            <a:off x="2598985" y="197998"/>
            <a:ext cx="6994031" cy="76944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s-ES" sz="4400" b="1" dirty="0">
                <a:solidFill>
                  <a:srgbClr val="00F4FA"/>
                </a:solidFill>
                <a:latin typeface="+mn-lt"/>
                <a:cs typeface="Calibri"/>
              </a:rPr>
              <a:t>LÍNEA</a:t>
            </a:r>
            <a:r>
              <a:rPr lang="es-ES" sz="4400" b="1" spc="240" dirty="0">
                <a:solidFill>
                  <a:srgbClr val="00F4FA"/>
                </a:solidFill>
                <a:latin typeface="+mn-lt"/>
                <a:cs typeface="Calibri"/>
              </a:rPr>
              <a:t> </a:t>
            </a:r>
            <a:r>
              <a:rPr lang="es-ES" sz="4400" b="1" dirty="0">
                <a:solidFill>
                  <a:srgbClr val="00F4FA"/>
                </a:solidFill>
                <a:latin typeface="+mn-lt"/>
                <a:cs typeface="Calibri"/>
              </a:rPr>
              <a:t>DE</a:t>
            </a:r>
            <a:r>
              <a:rPr lang="es-ES" sz="4400" b="1" spc="229" dirty="0">
                <a:solidFill>
                  <a:srgbClr val="00F4FA"/>
                </a:solidFill>
                <a:latin typeface="+mn-lt"/>
                <a:cs typeface="Calibri"/>
              </a:rPr>
              <a:t> </a:t>
            </a:r>
            <a:r>
              <a:rPr lang="es-ES" sz="4400" b="1" spc="45" dirty="0">
                <a:solidFill>
                  <a:srgbClr val="00F4FA"/>
                </a:solidFill>
                <a:latin typeface="+mn-lt"/>
                <a:cs typeface="Calibri"/>
              </a:rPr>
              <a:t>EMERGENCIAS</a:t>
            </a:r>
            <a:r>
              <a:rPr lang="es-ES" sz="4400" b="1" spc="235" dirty="0">
                <a:solidFill>
                  <a:srgbClr val="00F4FA"/>
                </a:solidFill>
                <a:latin typeface="+mn-lt"/>
                <a:cs typeface="Calibri"/>
              </a:rPr>
              <a:t> </a:t>
            </a:r>
            <a:r>
              <a:rPr lang="es-ES" sz="4400" b="1" spc="-25" dirty="0">
                <a:solidFill>
                  <a:srgbClr val="00F4FA"/>
                </a:solidFill>
                <a:latin typeface="+mn-lt"/>
                <a:cs typeface="Calibri"/>
              </a:rPr>
              <a:t>123</a:t>
            </a:r>
            <a:endParaRPr lang="es-ES" sz="4400" dirty="0"/>
          </a:p>
        </p:txBody>
      </p:sp>
      <p:pic>
        <p:nvPicPr>
          <p:cNvPr id="3" name="Img-LogoETB-D1">
            <a:extLst>
              <a:ext uri="{FF2B5EF4-FFF2-40B4-BE49-F238E27FC236}">
                <a16:creationId xmlns:a16="http://schemas.microsoft.com/office/drawing/2014/main" id="{F6AFC7A0-4722-49BA-AD18-9E0F984B25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883" y="299539"/>
            <a:ext cx="615749" cy="463336"/>
          </a:xfrm>
          <a:prstGeom prst="rect">
            <a:avLst/>
          </a:prstGeom>
        </p:spPr>
      </p:pic>
      <p:sp>
        <p:nvSpPr>
          <p:cNvPr id="6" name="txtFecha">
            <a:extLst>
              <a:ext uri="{FF2B5EF4-FFF2-40B4-BE49-F238E27FC236}">
                <a16:creationId xmlns:a16="http://schemas.microsoft.com/office/drawing/2014/main" id="{0110F041-28C8-431A-8FE7-EEF2D49B68F3}"/>
              </a:ext>
            </a:extLst>
          </p:cNvPr>
          <p:cNvSpPr txBox="1"/>
          <p:nvPr userDrawn="1"/>
        </p:nvSpPr>
        <p:spPr>
          <a:xfrm>
            <a:off x="3712496" y="4085150"/>
            <a:ext cx="5022034" cy="75514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wrap="square" lIns="0" tIns="10160" rIns="0" bIns="0" rtlCol="0">
            <a:spAutoFit/>
          </a:bodyPr>
          <a:lstStyle/>
          <a:p>
            <a:pPr marL="476884" marR="239395" indent="-228600" algn="ctr">
              <a:lnSpc>
                <a:spcPts val="2880"/>
              </a:lnSpc>
              <a:spcBef>
                <a:spcPts val="80"/>
              </a:spcBef>
            </a:pPr>
            <a:endParaRPr lang="es-ES" sz="2400" dirty="0">
              <a:solidFill>
                <a:srgbClr val="FFFFFF"/>
              </a:solidFill>
              <a:latin typeface="Calibri" panose="020F0502020204030204" pitchFamily="34" charset="0"/>
              <a:cs typeface="Calibri"/>
            </a:endParaRPr>
          </a:p>
          <a:p>
            <a:pPr marL="476884" marR="239395" indent="-228600" algn="ctr">
              <a:lnSpc>
                <a:spcPts val="2880"/>
              </a:lnSpc>
              <a:spcBef>
                <a:spcPts val="80"/>
              </a:spcBef>
            </a:pPr>
            <a:endParaRPr lang="es-ES" sz="2400" dirty="0">
              <a:solidFill>
                <a:srgbClr val="FFFFFF"/>
              </a:solidFill>
              <a:latin typeface="Calibri" panose="020F0502020204030204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004804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ice-Txt">
            <a:extLst>
              <a:ext uri="{FF2B5EF4-FFF2-40B4-BE49-F238E27FC236}">
                <a16:creationId xmlns:a16="http://schemas.microsoft.com/office/drawing/2014/main" id="{9510C7B8-E3F4-4ED9-A693-30B7EE5392F2}"/>
              </a:ext>
            </a:extLst>
          </p:cNvPr>
          <p:cNvSpPr txBox="1"/>
          <p:nvPr userDrawn="1"/>
        </p:nvSpPr>
        <p:spPr>
          <a:xfrm>
            <a:off x="1105850" y="605286"/>
            <a:ext cx="3571240" cy="5694507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  <a:tabLst>
                <a:tab pos="349250" algn="l"/>
              </a:tabLst>
            </a:pPr>
            <a:r>
              <a:rPr sz="1200" spc="-25" dirty="0">
                <a:solidFill>
                  <a:srgbClr val="006EC0"/>
                </a:solidFill>
                <a:latin typeface="Calibri"/>
                <a:cs typeface="Calibri"/>
              </a:rPr>
              <a:t>1.</a:t>
            </a:r>
            <a:r>
              <a:rPr lang="es-ES" sz="1200" spc="-25" dirty="0">
                <a:solidFill>
                  <a:srgbClr val="006EC0"/>
                </a:solidFill>
                <a:latin typeface="Calibri"/>
                <a:cs typeface="Calibri"/>
              </a:rPr>
              <a:t>	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Estado</a:t>
            </a:r>
            <a:r>
              <a:rPr sz="1200" spc="-9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sz="1200" spc="-5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operación</a:t>
            </a:r>
            <a:endParaRPr sz="1200" dirty="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760"/>
              </a:spcBef>
              <a:buClr>
                <a:srgbClr val="006EC0"/>
              </a:buClr>
              <a:buSzPct val="104545"/>
              <a:buAutoNum type="romanUcPeriod"/>
              <a:tabLst>
                <a:tab pos="527685" algn="l"/>
              </a:tabLst>
            </a:pPr>
            <a:r>
              <a:rPr sz="1100" spc="-35" dirty="0" err="1">
                <a:solidFill>
                  <a:srgbClr val="042855"/>
                </a:solidFill>
                <a:latin typeface="Calibri"/>
                <a:cs typeface="Calibri"/>
              </a:rPr>
              <a:t>Seguimientopreventivo</a:t>
            </a:r>
            <a:r>
              <a:rPr sz="1100" spc="-3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042855"/>
                </a:solidFill>
                <a:latin typeface="Calibri"/>
                <a:cs typeface="Calibri"/>
              </a:rPr>
              <a:t>Mesa</a:t>
            </a:r>
            <a:r>
              <a:rPr sz="1100" spc="-6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sz="1100" spc="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100" spc="-10" dirty="0" err="1">
                <a:solidFill>
                  <a:srgbClr val="042855"/>
                </a:solidFill>
                <a:latin typeface="Calibri"/>
                <a:cs typeface="Calibri"/>
              </a:rPr>
              <a:t>Servicio</a:t>
            </a:r>
            <a:endParaRPr sz="1100" dirty="0">
              <a:latin typeface="Calibri"/>
              <a:cs typeface="Calibri"/>
            </a:endParaRPr>
          </a:p>
          <a:p>
            <a:pPr marL="12700">
              <a:spcBef>
                <a:spcPts val="740"/>
              </a:spcBef>
            </a:pPr>
            <a:r>
              <a:rPr sz="1150" spc="-25" dirty="0">
                <a:solidFill>
                  <a:srgbClr val="006EC0"/>
                </a:solidFill>
                <a:latin typeface="Calibri"/>
                <a:cs typeface="Calibri"/>
              </a:rPr>
              <a:t>I</a:t>
            </a:r>
            <a:r>
              <a:rPr lang="es-ES" sz="1150" spc="-25" dirty="0">
                <a:solidFill>
                  <a:srgbClr val="006EC0"/>
                </a:solidFill>
                <a:latin typeface="Calibri"/>
                <a:cs typeface="Calibri"/>
              </a:rPr>
              <a:t>I.              </a:t>
            </a:r>
            <a:r>
              <a:rPr lang="es-ES" sz="1100" spc="-30" dirty="0" err="1">
                <a:solidFill>
                  <a:srgbClr val="042855"/>
                </a:solidFill>
                <a:latin typeface="Calibri"/>
                <a:cs typeface="Calibri"/>
              </a:rPr>
              <a:t>Confirmacionesen</a:t>
            </a:r>
            <a:r>
              <a:rPr lang="es-ES" sz="1100" spc="1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spc="-25" dirty="0">
                <a:solidFill>
                  <a:srgbClr val="042855"/>
                </a:solidFill>
                <a:latin typeface="Calibri"/>
                <a:cs typeface="Calibri"/>
              </a:rPr>
              <a:t>SUR</a:t>
            </a:r>
            <a:r>
              <a:rPr lang="es-ES" sz="1100" spc="-3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spc="-10" dirty="0">
                <a:solidFill>
                  <a:srgbClr val="042855"/>
                </a:solidFill>
                <a:latin typeface="Calibri"/>
                <a:cs typeface="Calibri"/>
              </a:rPr>
              <a:t>y</a:t>
            </a:r>
            <a:r>
              <a:rPr lang="es-ES" sz="1100" spc="-9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spc="-10" dirty="0">
                <a:solidFill>
                  <a:srgbClr val="042855"/>
                </a:solidFill>
                <a:latin typeface="Calibri"/>
                <a:cs typeface="Calibri"/>
              </a:rPr>
              <a:t>Agencias</a:t>
            </a:r>
            <a:endParaRPr sz="1150" dirty="0">
              <a:latin typeface="Calibri"/>
              <a:cs typeface="Calibri"/>
            </a:endParaRPr>
          </a:p>
          <a:p>
            <a:pPr marL="12700">
              <a:spcBef>
                <a:spcPts val="735"/>
              </a:spcBef>
            </a:pPr>
            <a:r>
              <a:rPr sz="1150" spc="-20" dirty="0">
                <a:solidFill>
                  <a:srgbClr val="006EC0"/>
                </a:solidFill>
                <a:latin typeface="Calibri"/>
                <a:cs typeface="Calibri"/>
              </a:rPr>
              <a:t>III.</a:t>
            </a:r>
            <a:r>
              <a:rPr lang="es-ES" sz="1150" spc="-20" dirty="0">
                <a:solidFill>
                  <a:srgbClr val="006EC0"/>
                </a:solidFill>
                <a:latin typeface="Calibri"/>
                <a:cs typeface="Calibri"/>
              </a:rPr>
              <a:t>            </a:t>
            </a:r>
            <a:r>
              <a:rPr lang="es-ES" sz="1100" spc="-10" dirty="0">
                <a:solidFill>
                  <a:srgbClr val="042855"/>
                </a:solidFill>
                <a:latin typeface="Calibri"/>
                <a:cs typeface="Calibri"/>
              </a:rPr>
              <a:t>HUD</a:t>
            </a:r>
            <a:r>
              <a:rPr lang="es-ES" sz="1100" spc="-6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dirty="0">
                <a:solidFill>
                  <a:srgbClr val="042855"/>
                </a:solidFill>
                <a:latin typeface="Calibri"/>
                <a:cs typeface="Calibri"/>
              </a:rPr>
              <a:t>y</a:t>
            </a:r>
            <a:r>
              <a:rPr lang="es-ES" sz="1100" spc="-7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spc="-20" dirty="0" err="1">
                <a:solidFill>
                  <a:srgbClr val="042855"/>
                </a:solidFill>
                <a:latin typeface="Calibri"/>
                <a:cs typeface="Calibri"/>
              </a:rPr>
              <a:t>Trámitede</a:t>
            </a:r>
            <a:r>
              <a:rPr lang="es-ES" sz="1100" spc="-4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spc="-10" dirty="0">
                <a:solidFill>
                  <a:srgbClr val="042855"/>
                </a:solidFill>
                <a:latin typeface="Calibri"/>
                <a:cs typeface="Calibri"/>
              </a:rPr>
              <a:t>Llamadas</a:t>
            </a:r>
            <a:endParaRPr sz="1150" dirty="0">
              <a:latin typeface="Calibri"/>
              <a:cs typeface="Calibri"/>
            </a:endParaRPr>
          </a:p>
          <a:p>
            <a:pPr marL="12700">
              <a:spcBef>
                <a:spcPts val="790"/>
              </a:spcBef>
            </a:pPr>
            <a:r>
              <a:rPr sz="1200" spc="-25" dirty="0">
                <a:solidFill>
                  <a:srgbClr val="006EC0"/>
                </a:solidFill>
                <a:latin typeface="Calibri"/>
                <a:cs typeface="Calibri"/>
              </a:rPr>
              <a:t>I.</a:t>
            </a:r>
            <a:r>
              <a:rPr lang="es-ES" sz="1200" spc="-25" dirty="0">
                <a:solidFill>
                  <a:srgbClr val="006EC0"/>
                </a:solidFill>
                <a:latin typeface="Calibri"/>
                <a:cs typeface="Calibri"/>
              </a:rPr>
              <a:t> </a:t>
            </a:r>
            <a:r>
              <a:rPr lang="es-ES" sz="1200" spc="-55" dirty="0">
                <a:solidFill>
                  <a:srgbClr val="042855"/>
                </a:solidFill>
                <a:latin typeface="Calibri"/>
                <a:cs typeface="Calibri"/>
              </a:rPr>
              <a:t>         Disponibilidad</a:t>
            </a:r>
            <a:r>
              <a:rPr lang="es-ES" sz="1200" spc="-7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200" spc="-45" dirty="0">
                <a:solidFill>
                  <a:srgbClr val="042855"/>
                </a:solidFill>
                <a:latin typeface="Calibri"/>
                <a:cs typeface="Calibri"/>
              </a:rPr>
              <a:t>Equipos</a:t>
            </a:r>
            <a:r>
              <a:rPr lang="es-ES" sz="1200" spc="-7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200" spc="-1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lang="es-ES" sz="1200" spc="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200" spc="-10" dirty="0">
                <a:solidFill>
                  <a:srgbClr val="042855"/>
                </a:solidFill>
                <a:latin typeface="Calibri"/>
                <a:cs typeface="Calibri"/>
              </a:rPr>
              <a:t>Comunicaciones</a:t>
            </a:r>
            <a:endParaRPr sz="1200" dirty="0">
              <a:latin typeface="Calibri"/>
              <a:cs typeface="Calibri"/>
            </a:endParaRPr>
          </a:p>
          <a:p>
            <a:pPr marL="241935" lvl="1" indent="-229235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241935" algn="l"/>
              </a:tabLst>
            </a:pPr>
            <a:r>
              <a:rPr lang="es-ES" sz="1200" spc="-40" dirty="0">
                <a:solidFill>
                  <a:srgbClr val="042855"/>
                </a:solidFill>
                <a:latin typeface="Calibri"/>
                <a:cs typeface="Calibri"/>
              </a:rPr>
              <a:t>    </a:t>
            </a:r>
            <a:r>
              <a:rPr sz="1200" spc="-40" dirty="0" err="1">
                <a:solidFill>
                  <a:srgbClr val="042855"/>
                </a:solidFill>
                <a:latin typeface="Calibri"/>
                <a:cs typeface="Calibri"/>
              </a:rPr>
              <a:t>Reporte</a:t>
            </a:r>
            <a:r>
              <a:rPr sz="1200" spc="-13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sz="1200" spc="-8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Seguridad</a:t>
            </a:r>
            <a:endParaRPr sz="1200" dirty="0">
              <a:latin typeface="Calibri"/>
              <a:cs typeface="Calibri"/>
            </a:endParaRPr>
          </a:p>
          <a:p>
            <a:pPr marL="294005" lvl="1" indent="-281305">
              <a:lnSpc>
                <a:spcPct val="100000"/>
              </a:lnSpc>
              <a:spcBef>
                <a:spcPts val="795"/>
              </a:spcBef>
              <a:buClr>
                <a:srgbClr val="006EC0"/>
              </a:buClr>
              <a:buAutoNum type="arabicPeriod"/>
              <a:tabLst>
                <a:tab pos="294005" algn="l"/>
              </a:tabLst>
            </a:pPr>
            <a:r>
              <a:rPr lang="es-ES" sz="1200" spc="-45" dirty="0">
                <a:solidFill>
                  <a:srgbClr val="042855"/>
                </a:solidFill>
                <a:latin typeface="Calibri"/>
                <a:cs typeface="Calibri"/>
              </a:rPr>
              <a:t>  </a:t>
            </a:r>
            <a:r>
              <a:rPr sz="1200" spc="-45" dirty="0" err="1">
                <a:solidFill>
                  <a:srgbClr val="042855"/>
                </a:solidFill>
                <a:latin typeface="Calibri"/>
                <a:cs typeface="Calibri"/>
              </a:rPr>
              <a:t>Disponibilidad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Interfaces</a:t>
            </a:r>
            <a:r>
              <a:rPr sz="1200" spc="1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2855"/>
                </a:solidFill>
                <a:latin typeface="Calibri"/>
                <a:cs typeface="Calibri"/>
              </a:rPr>
              <a:t>y</a:t>
            </a:r>
            <a:r>
              <a:rPr sz="1200" spc="3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VPN’s</a:t>
            </a:r>
            <a:r>
              <a:rPr sz="1200" spc="-5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5" dirty="0">
                <a:solidFill>
                  <a:srgbClr val="042855"/>
                </a:solidFill>
                <a:latin typeface="Calibri"/>
                <a:cs typeface="Calibri"/>
              </a:rPr>
              <a:t>Operación 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NUSE</a:t>
            </a:r>
            <a:endParaRPr sz="1200" dirty="0">
              <a:latin typeface="Calibri"/>
              <a:cs typeface="Calibri"/>
            </a:endParaRPr>
          </a:p>
          <a:p>
            <a:pPr marL="292735" lvl="1" indent="-280035">
              <a:lnSpc>
                <a:spcPct val="100000"/>
              </a:lnSpc>
              <a:spcBef>
                <a:spcPts val="800"/>
              </a:spcBef>
              <a:buClr>
                <a:srgbClr val="006EC0"/>
              </a:buClr>
              <a:buAutoNum type="arabicPeriod"/>
              <a:tabLst>
                <a:tab pos="292735" algn="l"/>
              </a:tabLst>
            </a:pPr>
            <a:r>
              <a:rPr lang="es-ES" sz="1200" spc="-45" dirty="0">
                <a:solidFill>
                  <a:srgbClr val="042855"/>
                </a:solidFill>
                <a:latin typeface="Calibri"/>
                <a:cs typeface="Calibri"/>
              </a:rPr>
              <a:t>  </a:t>
            </a:r>
            <a:r>
              <a:rPr sz="1200" spc="-45" dirty="0" err="1">
                <a:solidFill>
                  <a:srgbClr val="042855"/>
                </a:solidFill>
                <a:latin typeface="Calibri"/>
                <a:cs typeface="Calibri"/>
              </a:rPr>
              <a:t>Disponibilidad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Enlaces</a:t>
            </a:r>
            <a:r>
              <a:rPr sz="120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Fibra</a:t>
            </a:r>
            <a:r>
              <a:rPr sz="1200" spc="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Oscura</a:t>
            </a:r>
            <a:endParaRPr sz="1200" dirty="0">
              <a:latin typeface="Calibri"/>
              <a:cs typeface="Calibri"/>
            </a:endParaRPr>
          </a:p>
          <a:p>
            <a:pPr marL="294005" lvl="1" indent="-281305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294005" algn="l"/>
              </a:tabLst>
            </a:pPr>
            <a:r>
              <a:rPr lang="es-ES" sz="1200" spc="-35" dirty="0">
                <a:solidFill>
                  <a:srgbClr val="042855"/>
                </a:solidFill>
                <a:latin typeface="Calibri"/>
                <a:cs typeface="Calibri"/>
              </a:rPr>
              <a:t>  </a:t>
            </a:r>
            <a:r>
              <a:rPr sz="1200" spc="-35" dirty="0" err="1">
                <a:solidFill>
                  <a:srgbClr val="042855"/>
                </a:solidFill>
                <a:latin typeface="Calibri"/>
                <a:cs typeface="Calibri"/>
              </a:rPr>
              <a:t>Disponibilidad</a:t>
            </a:r>
            <a:r>
              <a:rPr sz="1200" spc="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Servidores</a:t>
            </a:r>
            <a:endParaRPr sz="1200" dirty="0">
              <a:solidFill>
                <a:srgbClr val="042855"/>
              </a:solidFill>
              <a:latin typeface="Calibri"/>
              <a:cs typeface="Calibri"/>
            </a:endParaRPr>
          </a:p>
          <a:p>
            <a:pPr marL="294005" lvl="1" indent="-281305">
              <a:lnSpc>
                <a:spcPct val="100000"/>
              </a:lnSpc>
              <a:spcBef>
                <a:spcPts val="795"/>
              </a:spcBef>
              <a:buClr>
                <a:srgbClr val="006EC0"/>
              </a:buClr>
              <a:buAutoNum type="arabicPeriod"/>
              <a:tabLst>
                <a:tab pos="294005" algn="l"/>
              </a:tabLst>
            </a:pPr>
            <a:r>
              <a:rPr lang="es-ES" sz="1200" spc="-25" dirty="0">
                <a:solidFill>
                  <a:srgbClr val="042855"/>
                </a:solidFill>
                <a:latin typeface="Calibri"/>
                <a:cs typeface="Calibri"/>
              </a:rPr>
              <a:t> 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Vesta</a:t>
            </a:r>
            <a:r>
              <a:rPr sz="1200" spc="-4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Analytics</a:t>
            </a:r>
            <a:r>
              <a:rPr sz="1200" spc="24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40" dirty="0">
                <a:solidFill>
                  <a:srgbClr val="042855"/>
                </a:solidFill>
                <a:latin typeface="Calibri"/>
                <a:cs typeface="Calibri"/>
              </a:rPr>
              <a:t>(Información</a:t>
            </a:r>
            <a:r>
              <a:rPr sz="1200" spc="-1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sz="1200" spc="-5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40" dirty="0">
                <a:solidFill>
                  <a:srgbClr val="042855"/>
                </a:solidFill>
                <a:latin typeface="Calibri"/>
                <a:cs typeface="Calibri"/>
              </a:rPr>
              <a:t>Llamadas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Por</a:t>
            </a:r>
            <a:r>
              <a:rPr sz="1200" spc="-5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Dia)</a:t>
            </a:r>
            <a:endParaRPr sz="1200" dirty="0">
              <a:latin typeface="Calibri"/>
              <a:cs typeface="Calibri"/>
            </a:endParaRPr>
          </a:p>
          <a:p>
            <a:pPr marL="240029" lvl="1" indent="-227329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240029" algn="l"/>
              </a:tabLst>
            </a:pPr>
            <a:r>
              <a:rPr lang="es-ES" sz="1200" spc="-45" dirty="0">
                <a:solidFill>
                  <a:srgbClr val="042855"/>
                </a:solidFill>
                <a:latin typeface="Calibri"/>
                <a:cs typeface="Calibri"/>
              </a:rPr>
              <a:t>    </a:t>
            </a:r>
            <a:r>
              <a:rPr sz="1200" spc="-45" dirty="0" err="1">
                <a:solidFill>
                  <a:srgbClr val="042855"/>
                </a:solidFill>
                <a:latin typeface="Calibri"/>
                <a:cs typeface="Calibri"/>
              </a:rPr>
              <a:t>Disponibilidad</a:t>
            </a:r>
            <a:r>
              <a:rPr sz="1200" spc="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Grabadora</a:t>
            </a:r>
            <a:r>
              <a:rPr sz="1200" spc="4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VERINT</a:t>
            </a:r>
            <a:endParaRPr sz="1200" dirty="0">
              <a:latin typeface="Calibri"/>
              <a:cs typeface="Calibri"/>
            </a:endParaRPr>
          </a:p>
          <a:p>
            <a:pPr marL="240029" lvl="1" indent="-227329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240029" algn="l"/>
              </a:tabLst>
            </a:pPr>
            <a:r>
              <a:rPr lang="es-ES" sz="1200" spc="-45" dirty="0">
                <a:solidFill>
                  <a:srgbClr val="042855"/>
                </a:solidFill>
                <a:latin typeface="Calibri"/>
                <a:cs typeface="Calibri"/>
              </a:rPr>
              <a:t>    </a:t>
            </a:r>
            <a:r>
              <a:rPr sz="1200" spc="-45" dirty="0" err="1">
                <a:solidFill>
                  <a:srgbClr val="042855"/>
                </a:solidFill>
                <a:latin typeface="Calibri"/>
                <a:cs typeface="Calibri"/>
              </a:rPr>
              <a:t>Disponibilidad</a:t>
            </a:r>
            <a:r>
              <a:rPr sz="1200" spc="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Grabadora</a:t>
            </a:r>
            <a:r>
              <a:rPr sz="1200" spc="4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RedBox</a:t>
            </a:r>
            <a:endParaRPr sz="1200" dirty="0">
              <a:latin typeface="Calibri"/>
              <a:cs typeface="Calibri"/>
            </a:endParaRPr>
          </a:p>
          <a:p>
            <a:pPr marL="240029" lvl="1" indent="-227329">
              <a:lnSpc>
                <a:spcPct val="100000"/>
              </a:lnSpc>
              <a:spcBef>
                <a:spcPts val="790"/>
              </a:spcBef>
              <a:buClr>
                <a:srgbClr val="006EC0"/>
              </a:buClr>
              <a:buAutoNum type="arabicPeriod"/>
              <a:tabLst>
                <a:tab pos="240029" algn="l"/>
              </a:tabLst>
            </a:pPr>
            <a:r>
              <a:rPr lang="es-ES" sz="1200" spc="-40" dirty="0">
                <a:solidFill>
                  <a:srgbClr val="042855"/>
                </a:solidFill>
                <a:latin typeface="Calibri"/>
                <a:cs typeface="Calibri"/>
              </a:rPr>
              <a:t>    </a:t>
            </a:r>
            <a:r>
              <a:rPr sz="1200" spc="-40" dirty="0" err="1">
                <a:solidFill>
                  <a:srgbClr val="042855"/>
                </a:solidFill>
                <a:latin typeface="Calibri"/>
                <a:cs typeface="Calibri"/>
              </a:rPr>
              <a:t>Procesamiento</a:t>
            </a:r>
            <a:r>
              <a:rPr sz="1200" spc="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2855"/>
                </a:solidFill>
                <a:latin typeface="Calibri"/>
                <a:cs typeface="Calibri"/>
              </a:rPr>
              <a:t>BD</a:t>
            </a:r>
            <a:r>
              <a:rPr sz="1200" spc="1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40" dirty="0">
                <a:solidFill>
                  <a:srgbClr val="042855"/>
                </a:solidFill>
                <a:latin typeface="Calibri"/>
                <a:cs typeface="Calibri"/>
              </a:rPr>
              <a:t>Producción</a:t>
            </a:r>
            <a:r>
              <a:rPr sz="1200" spc="-1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PremierOne</a:t>
            </a:r>
            <a:endParaRPr sz="1200" dirty="0">
              <a:latin typeface="Calibri"/>
              <a:cs typeface="Calibri"/>
            </a:endParaRPr>
          </a:p>
          <a:p>
            <a:pPr marL="315595" lvl="1" indent="-302895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315595" algn="l"/>
              </a:tabLst>
            </a:pPr>
            <a:r>
              <a:rPr lang="es-ES" sz="1200" spc="-4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40" dirty="0">
                <a:solidFill>
                  <a:srgbClr val="042855"/>
                </a:solidFill>
                <a:latin typeface="Calibri"/>
                <a:cs typeface="Calibri"/>
              </a:rPr>
              <a:t>Estado</a:t>
            </a:r>
            <a:r>
              <a:rPr sz="1200" spc="-9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5" dirty="0">
                <a:solidFill>
                  <a:srgbClr val="042855"/>
                </a:solidFill>
                <a:latin typeface="Calibri"/>
                <a:cs typeface="Calibri"/>
              </a:rPr>
              <a:t>Arquitectura</a:t>
            </a:r>
            <a:r>
              <a:rPr sz="1200" spc="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MITEL</a:t>
            </a:r>
            <a:endParaRPr sz="1200" dirty="0">
              <a:latin typeface="Calibri"/>
              <a:cs typeface="Calibri"/>
            </a:endParaRPr>
          </a:p>
          <a:p>
            <a:pPr marL="315595" lvl="1" indent="-302895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315595" algn="l"/>
              </a:tabLst>
            </a:pPr>
            <a:r>
              <a:rPr lang="es-ES" sz="1200" spc="-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Vesta</a:t>
            </a:r>
            <a:r>
              <a:rPr sz="1200" spc="-4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Analytics</a:t>
            </a:r>
            <a:r>
              <a:rPr sz="1200" spc="19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(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Cantidad</a:t>
            </a:r>
            <a:r>
              <a:rPr sz="12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de</a:t>
            </a:r>
            <a:r>
              <a:rPr sz="12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llamadas</a:t>
            </a:r>
            <a:r>
              <a:rPr sz="12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por</a:t>
            </a:r>
            <a:r>
              <a:rPr sz="12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operador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)</a:t>
            </a:r>
            <a:endParaRPr sz="1200" dirty="0">
              <a:latin typeface="Calibri"/>
              <a:cs typeface="Calibri"/>
            </a:endParaRPr>
          </a:p>
          <a:p>
            <a:pPr marL="315595" lvl="1" indent="-302895">
              <a:lnSpc>
                <a:spcPct val="100000"/>
              </a:lnSpc>
              <a:spcBef>
                <a:spcPts val="795"/>
              </a:spcBef>
              <a:buClr>
                <a:srgbClr val="006EC0"/>
              </a:buClr>
              <a:buAutoNum type="arabicPeriod"/>
              <a:tabLst>
                <a:tab pos="315595" algn="l"/>
              </a:tabLst>
            </a:pPr>
            <a:r>
              <a:rPr lang="es-ES" sz="1200" spc="-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Vesta</a:t>
            </a:r>
            <a:r>
              <a:rPr sz="1200" spc="-4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Analytics</a:t>
            </a:r>
            <a:r>
              <a:rPr sz="1200" spc="16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(Duración</a:t>
            </a:r>
            <a:r>
              <a:rPr sz="1200" spc="-4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sz="1200" spc="-6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llamadas)</a:t>
            </a:r>
            <a:endParaRPr sz="1200" dirty="0">
              <a:latin typeface="Calibri"/>
              <a:cs typeface="Calibri"/>
            </a:endParaRPr>
          </a:p>
          <a:p>
            <a:pPr marL="315595" lvl="1" indent="-302895">
              <a:lnSpc>
                <a:spcPct val="100000"/>
              </a:lnSpc>
              <a:spcBef>
                <a:spcPts val="800"/>
              </a:spcBef>
              <a:buClr>
                <a:srgbClr val="006EC0"/>
              </a:buClr>
              <a:buAutoNum type="arabicPeriod"/>
              <a:tabLst>
                <a:tab pos="315595" algn="l"/>
              </a:tabLst>
            </a:pPr>
            <a:r>
              <a:rPr lang="es-ES" sz="1200" spc="-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Vesta</a:t>
            </a:r>
            <a:r>
              <a:rPr sz="1200" spc="-4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Analytics</a:t>
            </a:r>
            <a:r>
              <a:rPr sz="1200" spc="13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2855"/>
                </a:solidFill>
                <a:latin typeface="Calibri"/>
                <a:cs typeface="Calibri"/>
              </a:rPr>
              <a:t>(</a:t>
            </a:r>
            <a:r>
              <a:rPr sz="1200" dirty="0">
                <a:solidFill>
                  <a:srgbClr val="5F808A"/>
                </a:solidFill>
                <a:latin typeface="Calibri"/>
                <a:cs typeface="Calibri"/>
              </a:rPr>
              <a:t>Resumen</a:t>
            </a:r>
            <a:r>
              <a:rPr sz="1200" spc="-35" dirty="0">
                <a:solidFill>
                  <a:srgbClr val="5F80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F808A"/>
                </a:solidFill>
                <a:latin typeface="Calibri"/>
                <a:cs typeface="Calibri"/>
              </a:rPr>
              <a:t>de</a:t>
            </a:r>
            <a:r>
              <a:rPr sz="1200" spc="-45" dirty="0">
                <a:solidFill>
                  <a:srgbClr val="5F80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F808A"/>
                </a:solidFill>
                <a:latin typeface="Calibri"/>
                <a:cs typeface="Calibri"/>
              </a:rPr>
              <a:t>llamadas</a:t>
            </a:r>
            <a:r>
              <a:rPr sz="1200" spc="-50" dirty="0">
                <a:solidFill>
                  <a:srgbClr val="5F808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5F808A"/>
                </a:solidFill>
                <a:latin typeface="Calibri"/>
                <a:cs typeface="Calibri"/>
              </a:rPr>
              <a:t>clasificadas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)</a:t>
            </a:r>
            <a:endParaRPr sz="1200" dirty="0">
              <a:latin typeface="Calibri"/>
              <a:cs typeface="Calibri"/>
            </a:endParaRPr>
          </a:p>
          <a:p>
            <a:pPr marL="325755" lvl="1" indent="-313055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325755" algn="l"/>
              </a:tabLst>
            </a:pPr>
            <a:r>
              <a:rPr lang="es-ES" sz="1200" spc="-3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 err="1">
                <a:solidFill>
                  <a:srgbClr val="042855"/>
                </a:solidFill>
                <a:latin typeface="Calibri"/>
                <a:cs typeface="Calibri"/>
              </a:rPr>
              <a:t>Consumo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internet</a:t>
            </a:r>
            <a:r>
              <a:rPr sz="1200" spc="-7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canal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principal</a:t>
            </a:r>
            <a:r>
              <a:rPr sz="1200" spc="-8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70Megas</a:t>
            </a:r>
            <a:endParaRPr lang="es-MX" sz="1200" spc="-10" dirty="0">
              <a:solidFill>
                <a:srgbClr val="042855"/>
              </a:solidFill>
              <a:latin typeface="Calibri"/>
              <a:cs typeface="Calibri"/>
            </a:endParaRPr>
          </a:p>
          <a:p>
            <a:pPr marL="325755" lvl="1" indent="-313055">
              <a:spcBef>
                <a:spcPts val="805"/>
              </a:spcBef>
              <a:buClr>
                <a:srgbClr val="006EC0"/>
              </a:buClr>
              <a:buFontTx/>
              <a:buAutoNum type="arabicPeriod"/>
              <a:tabLst>
                <a:tab pos="325755" algn="l"/>
              </a:tabLst>
            </a:pPr>
            <a:r>
              <a:rPr lang="es-MX" sz="1200" spc="-45" dirty="0">
                <a:solidFill>
                  <a:srgbClr val="042855"/>
                </a:solidFill>
                <a:latin typeface="Calibri"/>
                <a:cs typeface="Calibri"/>
              </a:rPr>
              <a:t> Disponibilidad</a:t>
            </a:r>
            <a:r>
              <a:rPr lang="es-MX" sz="1200" spc="-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MX" sz="1200" dirty="0">
                <a:solidFill>
                  <a:srgbClr val="042855"/>
                </a:solidFill>
                <a:latin typeface="Calibri"/>
                <a:cs typeface="Calibri"/>
              </a:rPr>
              <a:t>VPN</a:t>
            </a:r>
            <a:r>
              <a:rPr lang="es-MX" sz="1200" spc="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MX" sz="1200" spc="-10" dirty="0">
                <a:solidFill>
                  <a:srgbClr val="042855"/>
                </a:solidFill>
                <a:latin typeface="Calibri"/>
                <a:cs typeface="Calibri"/>
              </a:rPr>
              <a:t>VESTAFW_CUNI</a:t>
            </a:r>
          </a:p>
          <a:p>
            <a:pPr marL="325755" lvl="1" indent="-313055">
              <a:spcBef>
                <a:spcPts val="805"/>
              </a:spcBef>
              <a:buClr>
                <a:srgbClr val="006EC0"/>
              </a:buClr>
              <a:buFontTx/>
              <a:buAutoNum type="arabicPeriod"/>
              <a:tabLst>
                <a:tab pos="325755" algn="l"/>
              </a:tabLst>
            </a:pPr>
            <a:r>
              <a:rPr lang="es-MX" sz="1200" spc="-45" dirty="0">
                <a:solidFill>
                  <a:srgbClr val="042855"/>
                </a:solidFill>
                <a:latin typeface="Calibri"/>
                <a:cs typeface="Calibri"/>
              </a:rPr>
              <a:t> Novedades</a:t>
            </a:r>
            <a:endParaRPr lang="es-MX" sz="1200" dirty="0">
              <a:latin typeface="Calibri"/>
              <a:cs typeface="Calibri"/>
            </a:endParaRPr>
          </a:p>
        </p:txBody>
      </p:sp>
      <p:sp>
        <p:nvSpPr>
          <p:cNvPr id="4" name="Indice">
            <a:extLst>
              <a:ext uri="{FF2B5EF4-FFF2-40B4-BE49-F238E27FC236}">
                <a16:creationId xmlns:a16="http://schemas.microsoft.com/office/drawing/2014/main" id="{29CACEEB-9ECB-4732-A11C-FDEFF75AA6FD}"/>
              </a:ext>
            </a:extLst>
          </p:cNvPr>
          <p:cNvSpPr/>
          <p:nvPr userDrawn="1"/>
        </p:nvSpPr>
        <p:spPr>
          <a:xfrm>
            <a:off x="5496958" y="282122"/>
            <a:ext cx="11980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spc="-10" dirty="0">
                <a:solidFill>
                  <a:srgbClr val="1B5FA7"/>
                </a:solidFill>
                <a:latin typeface="+mn-lt"/>
              </a:rPr>
              <a:t>INDICE</a:t>
            </a:r>
            <a:endParaRPr lang="es-ES" sz="2800" b="1" dirty="0">
              <a:solidFill>
                <a:srgbClr val="1B5FA7"/>
              </a:solidFill>
              <a:latin typeface="+mn-lt"/>
            </a:endParaRPr>
          </a:p>
        </p:txBody>
      </p:sp>
      <p:pic>
        <p:nvPicPr>
          <p:cNvPr id="5" name="Img-LogoETB-A">
            <a:extLst>
              <a:ext uri="{FF2B5EF4-FFF2-40B4-BE49-F238E27FC236}">
                <a16:creationId xmlns:a16="http://schemas.microsoft.com/office/drawing/2014/main" id="{900AAE97-B0E1-42D7-8B8E-77B8876169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883" y="301839"/>
            <a:ext cx="615749" cy="463336"/>
          </a:xfrm>
          <a:prstGeom prst="rect">
            <a:avLst/>
          </a:prstGeom>
        </p:spPr>
      </p:pic>
      <p:sp>
        <p:nvSpPr>
          <p:cNvPr id="6" name="SerasLoQueCreas">
            <a:extLst>
              <a:ext uri="{FF2B5EF4-FFF2-40B4-BE49-F238E27FC236}">
                <a16:creationId xmlns:a16="http://schemas.microsoft.com/office/drawing/2014/main" id="{F6F96454-D83E-45C7-A756-42EE4C40ACB9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163561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397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uimientoPreventivo-txt">
            <a:extLst>
              <a:ext uri="{FF2B5EF4-FFF2-40B4-BE49-F238E27FC236}">
                <a16:creationId xmlns:a16="http://schemas.microsoft.com/office/drawing/2014/main" id="{C0B71403-5113-47E8-9685-5581097BECC1}"/>
              </a:ext>
            </a:extLst>
          </p:cNvPr>
          <p:cNvSpPr txBox="1"/>
          <p:nvPr userDrawn="1"/>
        </p:nvSpPr>
        <p:spPr>
          <a:xfrm>
            <a:off x="1055688" y="1305936"/>
            <a:ext cx="4922418" cy="2316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2750" indent="-400050">
              <a:lnSpc>
                <a:spcPct val="100000"/>
              </a:lnSpc>
              <a:spcBef>
                <a:spcPts val="105"/>
              </a:spcBef>
              <a:buClr>
                <a:srgbClr val="1B5FA7"/>
              </a:buClr>
              <a:buFont typeface="+mj-lt"/>
              <a:buAutoNum type="romanUcPeriod"/>
              <a:tabLst>
                <a:tab pos="195580" algn="l"/>
              </a:tabLst>
            </a:pPr>
            <a:r>
              <a:rPr lang="es-ES" sz="1800" b="0" spc="-35" dirty="0">
                <a:solidFill>
                  <a:srgbClr val="1B5FA7"/>
                </a:solidFill>
                <a:latin typeface="+mn-lt"/>
                <a:cs typeface="Calibri"/>
              </a:rPr>
              <a:t>Seguimiento preventivo Mesa de Servicio</a:t>
            </a:r>
            <a:br>
              <a:rPr lang="es-ES" sz="1600" b="1" spc="-35" dirty="0">
                <a:solidFill>
                  <a:srgbClr val="1F4680"/>
                </a:solidFill>
                <a:latin typeface="+mn-lt"/>
                <a:cs typeface="Calibri"/>
              </a:rPr>
            </a:br>
            <a:br>
              <a:rPr lang="es-ES" sz="1600" b="1" spc="-35" dirty="0">
                <a:solidFill>
                  <a:srgbClr val="1F4680"/>
                </a:solidFill>
                <a:latin typeface="+mn-lt"/>
                <a:cs typeface="Calibri"/>
              </a:rPr>
            </a:b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A corte de las 08:00, se realiza seguimiento, confirmando con los supervisores completa operatividad en SUR, CAD,  CRUE, Movilidad, IDIGER y Bomberos, a la hora las agencias laboran con normalidad.</a:t>
            </a:r>
          </a:p>
          <a:p>
            <a:pPr marL="12700" indent="0">
              <a:lnSpc>
                <a:spcPct val="100000"/>
              </a:lnSpc>
              <a:spcBef>
                <a:spcPts val="105"/>
              </a:spcBef>
              <a:buClr>
                <a:srgbClr val="7E7E7E"/>
              </a:buClr>
              <a:buFont typeface="+mj-lt"/>
              <a:buNone/>
              <a:tabLst>
                <a:tab pos="195580" algn="l"/>
              </a:tabLst>
            </a:pPr>
            <a:endParaRPr lang="es-MX" sz="1600" b="1" spc="-35" dirty="0">
              <a:solidFill>
                <a:srgbClr val="1F4680"/>
              </a:solidFill>
              <a:latin typeface="+mn-lt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7E7E7E"/>
              </a:buClr>
              <a:buSzTx/>
              <a:buFont typeface="Calibri"/>
              <a:buNone/>
              <a:tabLst>
                <a:tab pos="195580" algn="l"/>
              </a:tabLst>
              <a:defRPr/>
            </a:pPr>
            <a:r>
              <a:rPr lang="es-ES" dirty="0">
                <a:solidFill>
                  <a:srgbClr val="1B5FA7"/>
                </a:solidFill>
              </a:rPr>
              <a:t>II.</a:t>
            </a:r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   </a:t>
            </a:r>
            <a:r>
              <a:rPr lang="es-ES" sz="1800" b="0" spc="-35" dirty="0">
                <a:solidFill>
                  <a:srgbClr val="1B5FA7"/>
                </a:solidFill>
                <a:latin typeface="+mn-lt"/>
                <a:cs typeface="Calibri"/>
              </a:rPr>
              <a:t>Confirmaciones en SUR y Agencias</a:t>
            </a:r>
          </a:p>
        </p:txBody>
      </p:sp>
      <p:sp>
        <p:nvSpPr>
          <p:cNvPr id="7" name="HUD-Tramite">
            <a:extLst>
              <a:ext uri="{FF2B5EF4-FFF2-40B4-BE49-F238E27FC236}">
                <a16:creationId xmlns:a16="http://schemas.microsoft.com/office/drawing/2014/main" id="{BB32211D-BD44-42EE-9A24-6FF365B8697F}"/>
              </a:ext>
            </a:extLst>
          </p:cNvPr>
          <p:cNvSpPr txBox="1"/>
          <p:nvPr userDrawn="1"/>
        </p:nvSpPr>
        <p:spPr>
          <a:xfrm>
            <a:off x="7200915" y="1278084"/>
            <a:ext cx="3221355" cy="30072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aseline="-5555" dirty="0">
                <a:solidFill>
                  <a:srgbClr val="1B5FA7"/>
                </a:solidFill>
                <a:latin typeface="Calibri"/>
                <a:cs typeface="Calibri"/>
              </a:rPr>
              <a:t>III.</a:t>
            </a:r>
            <a:r>
              <a:rPr sz="2800" spc="247" baseline="-555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5FA7"/>
                </a:solidFill>
                <a:latin typeface="Calibri"/>
                <a:cs typeface="Calibri"/>
              </a:rPr>
              <a:t>HUD</a:t>
            </a:r>
            <a:r>
              <a:rPr sz="1800" spc="-20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5FA7"/>
                </a:solidFill>
                <a:latin typeface="Calibri"/>
                <a:cs typeface="Calibri"/>
              </a:rPr>
              <a:t>y</a:t>
            </a:r>
            <a:r>
              <a:rPr sz="1800" spc="-1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5FA7"/>
                </a:solidFill>
                <a:latin typeface="Calibri"/>
                <a:cs typeface="Calibri"/>
              </a:rPr>
              <a:t>Trámite</a:t>
            </a:r>
            <a:r>
              <a:rPr sz="1800" spc="-10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5FA7"/>
                </a:solidFill>
                <a:latin typeface="Calibri"/>
                <a:cs typeface="Calibri"/>
              </a:rPr>
              <a:t>de</a:t>
            </a:r>
            <a:r>
              <a:rPr sz="1800" spc="-1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B5FA7"/>
                </a:solidFill>
                <a:latin typeface="Calibri"/>
                <a:cs typeface="Calibri"/>
              </a:rPr>
              <a:t>Llamadas</a:t>
            </a:r>
            <a:endParaRPr sz="18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Nota-txt">
            <a:extLst>
              <a:ext uri="{FF2B5EF4-FFF2-40B4-BE49-F238E27FC236}">
                <a16:creationId xmlns:a16="http://schemas.microsoft.com/office/drawing/2014/main" id="{5651A748-9A9A-4A2C-BD51-4ED5FCC07E60}"/>
              </a:ext>
            </a:extLst>
          </p:cNvPr>
          <p:cNvSpPr txBox="1"/>
          <p:nvPr userDrawn="1"/>
        </p:nvSpPr>
        <p:spPr>
          <a:xfrm>
            <a:off x="6104635" y="5062808"/>
            <a:ext cx="5031678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600" b="0" spc="-35" dirty="0">
                <a:solidFill>
                  <a:srgbClr val="1B5FA7"/>
                </a:solidFill>
                <a:latin typeface="Calibri"/>
                <a:cs typeface="Calibri"/>
              </a:rPr>
              <a:t>NOTA:</a:t>
            </a:r>
            <a:r>
              <a:rPr sz="1600" b="0" spc="-35" dirty="0">
                <a:solidFill>
                  <a:srgbClr val="1F468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En el momento sobre el tablero HUD de monitoreo se visualiza el campo Agencia MUJ, por un contrato que tiene la SCJ, Secretaria de la mujer y ETB se agregó este campo allí. Cabe resaltar que esta agencia no hace parte del convenio 561-2014</a:t>
            </a:r>
            <a:endParaRPr sz="1400" dirty="0">
              <a:solidFill>
                <a:srgbClr val="7E7E7E"/>
              </a:solidFill>
              <a:latin typeface="Calibri"/>
              <a:cs typeface="Calibri"/>
            </a:endParaRPr>
          </a:p>
        </p:txBody>
      </p:sp>
      <p:sp>
        <p:nvSpPr>
          <p:cNvPr id="9" name="1-EstadoDeOperacion">
            <a:extLst>
              <a:ext uri="{FF2B5EF4-FFF2-40B4-BE49-F238E27FC236}">
                <a16:creationId xmlns:a16="http://schemas.microsoft.com/office/drawing/2014/main" id="{CE0E8C82-8F29-46E6-877D-BE7301E70C56}"/>
              </a:ext>
            </a:extLst>
          </p:cNvPr>
          <p:cNvSpPr txBox="1"/>
          <p:nvPr userDrawn="1"/>
        </p:nvSpPr>
        <p:spPr>
          <a:xfrm>
            <a:off x="1047750" y="413638"/>
            <a:ext cx="402745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800" b="1" spc="-25" dirty="0">
                <a:solidFill>
                  <a:srgbClr val="1B5FA7"/>
                </a:solidFill>
                <a:latin typeface="+mn-lt"/>
              </a:rPr>
              <a:t>1. </a:t>
            </a:r>
            <a:r>
              <a:rPr lang="es-ES" sz="2800" b="1" dirty="0">
                <a:solidFill>
                  <a:srgbClr val="1B5FA7"/>
                </a:solidFill>
                <a:latin typeface="+mn-lt"/>
              </a:rPr>
              <a:t>Estado</a:t>
            </a:r>
            <a:r>
              <a:rPr lang="es-ES" sz="2800" b="1" spc="-105" dirty="0">
                <a:solidFill>
                  <a:srgbClr val="1B5FA7"/>
                </a:solidFill>
                <a:latin typeface="+mn-lt"/>
              </a:rPr>
              <a:t> </a:t>
            </a:r>
            <a:r>
              <a:rPr lang="es-ES" sz="2800" b="1" dirty="0">
                <a:solidFill>
                  <a:srgbClr val="1B5FA7"/>
                </a:solidFill>
                <a:latin typeface="+mn-lt"/>
              </a:rPr>
              <a:t>de</a:t>
            </a:r>
            <a:r>
              <a:rPr lang="es-ES" sz="2800" b="1" spc="-100" dirty="0">
                <a:solidFill>
                  <a:srgbClr val="1B5FA7"/>
                </a:solidFill>
                <a:latin typeface="+mn-lt"/>
              </a:rPr>
              <a:t> </a:t>
            </a:r>
            <a:r>
              <a:rPr lang="es-ES" sz="2800" b="1" spc="-10" dirty="0">
                <a:solidFill>
                  <a:srgbClr val="1B5FA7"/>
                </a:solidFill>
                <a:latin typeface="+mn-lt"/>
              </a:rPr>
              <a:t>Operación</a:t>
            </a:r>
            <a:endParaRPr sz="2800" b="1" dirty="0">
              <a:solidFill>
                <a:srgbClr val="1B5FA7"/>
              </a:solidFill>
              <a:latin typeface="+mn-lt"/>
              <a:cs typeface="Calibri"/>
            </a:endParaRPr>
          </a:p>
        </p:txBody>
      </p:sp>
      <p:pic>
        <p:nvPicPr>
          <p:cNvPr id="3" name="Img-LogoETB-A">
            <a:extLst>
              <a:ext uri="{FF2B5EF4-FFF2-40B4-BE49-F238E27FC236}">
                <a16:creationId xmlns:a16="http://schemas.microsoft.com/office/drawing/2014/main" id="{95B4522D-05E8-48D6-9158-3834BE9B3CA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883" y="301732"/>
            <a:ext cx="615749" cy="463336"/>
          </a:xfrm>
          <a:prstGeom prst="rect">
            <a:avLst/>
          </a:prstGeom>
        </p:spPr>
      </p:pic>
      <p:sp>
        <p:nvSpPr>
          <p:cNvPr id="10" name="SerasLoQueCreas">
            <a:extLst>
              <a:ext uri="{FF2B5EF4-FFF2-40B4-BE49-F238E27FC236}">
                <a16:creationId xmlns:a16="http://schemas.microsoft.com/office/drawing/2014/main" id="{AAE0226C-0B5D-4818-81D0-C08E87B948DF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4" name="imgMarco-D3">
            <a:extLst>
              <a:ext uri="{FF2B5EF4-FFF2-40B4-BE49-F238E27FC236}">
                <a16:creationId xmlns:a16="http://schemas.microsoft.com/office/drawing/2014/main" id="{4C1C106A-42F9-4251-B413-954096BB77B3}"/>
              </a:ext>
            </a:extLst>
          </p:cNvPr>
          <p:cNvSpPr/>
          <p:nvPr userDrawn="1"/>
        </p:nvSpPr>
        <p:spPr>
          <a:xfrm>
            <a:off x="6104635" y="1778000"/>
            <a:ext cx="5031678" cy="30960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5257205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65" userDrawn="1">
          <p15:clr>
            <a:srgbClr val="FBAE40"/>
          </p15:clr>
        </p15:guide>
        <p15:guide id="3" pos="7015" userDrawn="1">
          <p15:clr>
            <a:srgbClr val="FBAE40"/>
          </p15:clr>
        </p15:guide>
        <p15:guide id="4" orient="horz" pos="572" userDrawn="1">
          <p15:clr>
            <a:srgbClr val="FBAE40"/>
          </p15:clr>
        </p15:guide>
        <p15:guide id="5" orient="horz" pos="958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I-DisponibilidadEquiposDeComunicaciones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60" y="401320"/>
            <a:ext cx="692023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z="2800" spc="-10" dirty="0">
                <a:solidFill>
                  <a:srgbClr val="1B5FA7"/>
                </a:solidFill>
              </a:rPr>
              <a:t>I</a:t>
            </a:r>
            <a:r>
              <a:rPr sz="2800" spc="-10" dirty="0">
                <a:solidFill>
                  <a:srgbClr val="1B5FA7"/>
                </a:solidFill>
              </a:rPr>
              <a:t>.</a:t>
            </a:r>
            <a:r>
              <a:rPr lang="es-ES" sz="2800" spc="-10" dirty="0">
                <a:solidFill>
                  <a:srgbClr val="1B5FA7"/>
                </a:solidFill>
              </a:rPr>
              <a:t> </a:t>
            </a:r>
            <a:r>
              <a:rPr sz="2800" spc="-10" dirty="0">
                <a:solidFill>
                  <a:srgbClr val="1B5FA7"/>
                </a:solidFill>
              </a:rPr>
              <a:t>Disponibilidad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Equipos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de</a:t>
            </a:r>
            <a:r>
              <a:rPr sz="2800" spc="-114" dirty="0">
                <a:solidFill>
                  <a:srgbClr val="1B5FA7"/>
                </a:solidFill>
              </a:rPr>
              <a:t> </a:t>
            </a:r>
            <a:r>
              <a:rPr sz="2800" spc="-10" dirty="0">
                <a:solidFill>
                  <a:srgbClr val="1B5FA7"/>
                </a:solidFill>
              </a:rPr>
              <a:t>Comunicaciones</a:t>
            </a:r>
          </a:p>
        </p:txBody>
      </p:sp>
      <p:sp>
        <p:nvSpPr>
          <p:cNvPr id="10" name="imgMarco-D4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SwitchesVESTA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270500" y="1023664"/>
            <a:ext cx="165100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1B5FA7"/>
                </a:solidFill>
                <a:latin typeface="Calibri"/>
                <a:cs typeface="Calibri"/>
              </a:rPr>
              <a:t>Switches</a:t>
            </a:r>
            <a:r>
              <a:rPr sz="2000" spc="-110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1B5FA7"/>
                </a:solidFill>
                <a:latin typeface="Calibri"/>
                <a:cs typeface="Calibri"/>
              </a:rPr>
              <a:t>VESTA</a:t>
            </a:r>
            <a:endParaRPr sz="20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12" name="SerasLoQueCreas">
            <a:extLst>
              <a:ext uri="{FF2B5EF4-FFF2-40B4-BE49-F238E27FC236}">
                <a16:creationId xmlns:a16="http://schemas.microsoft.com/office/drawing/2014/main" id="{5C5F8CE8-C4A1-4934-B71A-BABD456E21B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87870C7-EF32-4E68-A1AF-8956758473B1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8075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665" userDrawn="1">
          <p15:clr>
            <a:srgbClr val="FBAE40"/>
          </p15:clr>
        </p15:guide>
        <p15:guide id="3" pos="701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I-DisponibilidadEquiposDeComunicaciones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60" y="401320"/>
            <a:ext cx="692023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z="2800" spc="-10" dirty="0">
                <a:solidFill>
                  <a:srgbClr val="1B5FA7"/>
                </a:solidFill>
              </a:rPr>
              <a:t>I </a:t>
            </a:r>
            <a:r>
              <a:rPr lang="es-MX" sz="2800" spc="-10" dirty="0" err="1">
                <a:solidFill>
                  <a:srgbClr val="1B5FA7"/>
                </a:solidFill>
              </a:rPr>
              <a:t>I</a:t>
            </a:r>
            <a:r>
              <a:rPr sz="2800" spc="-10" dirty="0">
                <a:solidFill>
                  <a:srgbClr val="1B5FA7"/>
                </a:solidFill>
              </a:rPr>
              <a:t>.</a:t>
            </a:r>
            <a:r>
              <a:rPr lang="es-ES" sz="2800" spc="-10" dirty="0">
                <a:solidFill>
                  <a:srgbClr val="1B5FA7"/>
                </a:solidFill>
              </a:rPr>
              <a:t> </a:t>
            </a:r>
            <a:r>
              <a:rPr sz="2800" spc="-10" dirty="0">
                <a:solidFill>
                  <a:srgbClr val="1B5FA7"/>
                </a:solidFill>
              </a:rPr>
              <a:t>Disponibilidad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Equipos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de</a:t>
            </a:r>
            <a:r>
              <a:rPr sz="2800" spc="-114" dirty="0">
                <a:solidFill>
                  <a:srgbClr val="1B5FA7"/>
                </a:solidFill>
              </a:rPr>
              <a:t> </a:t>
            </a:r>
            <a:r>
              <a:rPr sz="2800" spc="-10" dirty="0">
                <a:solidFill>
                  <a:srgbClr val="1B5FA7"/>
                </a:solidFill>
              </a:rPr>
              <a:t>Comunicaciones</a:t>
            </a:r>
          </a:p>
        </p:txBody>
      </p:sp>
      <p:sp>
        <p:nvSpPr>
          <p:cNvPr id="10" name="imgMarco-D5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564188" y="1023664"/>
            <a:ext cx="106362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RED NUSE</a:t>
            </a:r>
          </a:p>
        </p:txBody>
      </p:sp>
      <p:sp>
        <p:nvSpPr>
          <p:cNvPr id="12" name="SerasLoQueCreas">
            <a:extLst>
              <a:ext uri="{FF2B5EF4-FFF2-40B4-BE49-F238E27FC236}">
                <a16:creationId xmlns:a16="http://schemas.microsoft.com/office/drawing/2014/main" id="{CDE79501-472B-4BCF-BD26-56E7A975A4A3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025718F-76DC-4496-B793-8A250E99DA59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17574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I-DisponibilidadEquiposDeComunicaciones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60" y="401320"/>
            <a:ext cx="692023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z="2800" spc="-10" dirty="0">
                <a:solidFill>
                  <a:srgbClr val="1B5FA7"/>
                </a:solidFill>
              </a:rPr>
              <a:t>I </a:t>
            </a:r>
            <a:r>
              <a:rPr lang="es-MX" sz="2800" spc="-10" dirty="0" err="1">
                <a:solidFill>
                  <a:srgbClr val="1B5FA7"/>
                </a:solidFill>
              </a:rPr>
              <a:t>I</a:t>
            </a:r>
            <a:r>
              <a:rPr lang="es-MX" sz="2800" spc="-10" dirty="0">
                <a:solidFill>
                  <a:srgbClr val="1B5FA7"/>
                </a:solidFill>
              </a:rPr>
              <a:t> </a:t>
            </a:r>
            <a:r>
              <a:rPr lang="es-MX" sz="2800" spc="-10" dirty="0" err="1">
                <a:solidFill>
                  <a:srgbClr val="1B5FA7"/>
                </a:solidFill>
              </a:rPr>
              <a:t>I</a:t>
            </a:r>
            <a:r>
              <a:rPr sz="2800" spc="-10" dirty="0">
                <a:solidFill>
                  <a:srgbClr val="1B5FA7"/>
                </a:solidFill>
              </a:rPr>
              <a:t>.</a:t>
            </a:r>
            <a:r>
              <a:rPr lang="es-ES" sz="2800" spc="-10" dirty="0">
                <a:solidFill>
                  <a:srgbClr val="1B5FA7"/>
                </a:solidFill>
              </a:rPr>
              <a:t> </a:t>
            </a:r>
            <a:r>
              <a:rPr sz="2800" spc="-10" dirty="0">
                <a:solidFill>
                  <a:srgbClr val="1B5FA7"/>
                </a:solidFill>
              </a:rPr>
              <a:t>Disponibilidad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Equipos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de</a:t>
            </a:r>
            <a:r>
              <a:rPr sz="2800" spc="-114" dirty="0">
                <a:solidFill>
                  <a:srgbClr val="1B5FA7"/>
                </a:solidFill>
              </a:rPr>
              <a:t> </a:t>
            </a:r>
            <a:r>
              <a:rPr sz="2800" spc="-10" dirty="0">
                <a:solidFill>
                  <a:srgbClr val="1B5FA7"/>
                </a:solidFill>
              </a:rPr>
              <a:t>Comunicaciones</a:t>
            </a:r>
          </a:p>
        </p:txBody>
      </p:sp>
      <p:sp>
        <p:nvSpPr>
          <p:cNvPr id="10" name="imgMarco-D6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564188" y="1023664"/>
            <a:ext cx="106362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RED NUSE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76BF848F-5E20-4420-9B19-DF600CE4C29C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B7B7BC9-FFBB-4CCF-82BB-FE500DBEDAEE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387383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7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5" name="T-ReporteSeguridad">
            <a:extLst>
              <a:ext uri="{FF2B5EF4-FFF2-40B4-BE49-F238E27FC236}">
                <a16:creationId xmlns:a16="http://schemas.microsoft.com/office/drawing/2014/main" id="{9931427B-2E74-4A17-B877-27BB68701FB2}"/>
              </a:ext>
            </a:extLst>
          </p:cNvPr>
          <p:cNvSpPr txBox="1">
            <a:spLocks/>
          </p:cNvSpPr>
          <p:nvPr userDrawn="1"/>
        </p:nvSpPr>
        <p:spPr>
          <a:xfrm>
            <a:off x="1022093" y="384680"/>
            <a:ext cx="5754263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00" b="1" i="0" u="none" strike="noStrike" kern="0" cap="none" spc="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2.</a:t>
            </a:r>
            <a:r>
              <a:rPr kumimoji="0" lang="es-MX" sz="2800" b="1" i="0" u="none" strike="noStrike" kern="0" cap="none" spc="-7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s-MX" sz="2800" b="1" i="0" u="none" strike="noStrike" kern="0" cap="none" spc="-1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Reporte</a:t>
            </a:r>
            <a:r>
              <a:rPr kumimoji="0" lang="es-MX" sz="2800" b="1" i="0" u="none" strike="noStrike" kern="0" cap="none" spc="-7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s-MX" sz="2800" b="1" i="0" u="none" strike="noStrike" kern="0" cap="none" spc="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de</a:t>
            </a:r>
            <a:r>
              <a:rPr kumimoji="0" lang="es-MX" sz="2800" b="1" i="0" u="none" strike="noStrike" kern="0" cap="none" spc="-7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s-MX" sz="2800" b="1" i="0" u="none" strike="noStrike" kern="0" cap="none" spc="-1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Seguridad Capture Client</a:t>
            </a:r>
          </a:p>
        </p:txBody>
      </p:sp>
      <p:sp>
        <p:nvSpPr>
          <p:cNvPr id="2" name="Img-SonicWall-D7">
            <a:extLst>
              <a:ext uri="{FF2B5EF4-FFF2-40B4-BE49-F238E27FC236}">
                <a16:creationId xmlns:a16="http://schemas.microsoft.com/office/drawing/2014/main" id="{E5D0F55D-0C98-453F-B35C-DF86935ABA23}"/>
              </a:ext>
            </a:extLst>
          </p:cNvPr>
          <p:cNvSpPr/>
          <p:nvPr userDrawn="1"/>
        </p:nvSpPr>
        <p:spPr>
          <a:xfrm>
            <a:off x="1055687" y="1016000"/>
            <a:ext cx="5638411" cy="49715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6F6BC878-F682-4F7E-9FF6-D924CC40BFAD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50546CA-8EAA-4F0D-AD42-8AD7D53A0BF4}"/>
              </a:ext>
            </a:extLst>
          </p:cNvPr>
          <p:cNvSpPr/>
          <p:nvPr userDrawn="1"/>
        </p:nvSpPr>
        <p:spPr>
          <a:xfrm>
            <a:off x="8134091" y="6209878"/>
            <a:ext cx="301807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u="none" dirty="0">
                <a:solidFill>
                  <a:srgbClr val="7E7E7E"/>
                </a:solidFill>
              </a:rPr>
              <a:t>Fuente: Capture Client - </a:t>
            </a:r>
            <a:r>
              <a:rPr lang="es-ES" sz="1600" u="none" dirty="0" err="1">
                <a:solidFill>
                  <a:srgbClr val="7E7E7E"/>
                </a:solidFill>
              </a:rPr>
              <a:t>SonicWall</a:t>
            </a:r>
            <a:endParaRPr lang="es-ES" sz="1600" u="none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45702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665" userDrawn="1">
          <p15:clr>
            <a:srgbClr val="FBAE40"/>
          </p15:clr>
        </p15:guide>
        <p15:guide id="3" pos="7015" userDrawn="1">
          <p15:clr>
            <a:srgbClr val="FBAE40"/>
          </p15:clr>
        </p15:guide>
        <p15:guide id="4" orient="horz" pos="640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7-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5" name="T-ReporteSeguridad">
            <a:extLst>
              <a:ext uri="{FF2B5EF4-FFF2-40B4-BE49-F238E27FC236}">
                <a16:creationId xmlns:a16="http://schemas.microsoft.com/office/drawing/2014/main" id="{9931427B-2E74-4A17-B877-27BB68701FB2}"/>
              </a:ext>
            </a:extLst>
          </p:cNvPr>
          <p:cNvSpPr txBox="1">
            <a:spLocks/>
          </p:cNvSpPr>
          <p:nvPr userDrawn="1"/>
        </p:nvSpPr>
        <p:spPr>
          <a:xfrm>
            <a:off x="1022093" y="384680"/>
            <a:ext cx="5362377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800" dirty="0"/>
              <a:t>I.</a:t>
            </a:r>
            <a:r>
              <a:rPr kumimoji="0" lang="es-MX" sz="2800" b="1" i="0" u="none" strike="noStrike" kern="0" cap="none" spc="-7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s-MX" sz="2800" b="1" i="0" u="none" strike="noStrike" kern="0" cap="none" spc="-1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Reporte</a:t>
            </a:r>
            <a:r>
              <a:rPr kumimoji="0" lang="es-MX" sz="2800" b="1" i="0" u="none" strike="noStrike" kern="0" cap="none" spc="-7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s-MX" sz="2800" b="1" i="0" u="none" strike="noStrike" kern="0" cap="none" spc="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de</a:t>
            </a:r>
            <a:r>
              <a:rPr kumimoji="0" lang="es-MX" sz="2800" b="1" i="0" u="none" strike="noStrike" kern="0" cap="none" spc="-7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s-MX" sz="2800" b="1" i="0" u="none" strike="noStrike" kern="0" cap="none" spc="-1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Seguridad Active </a:t>
            </a:r>
            <a:r>
              <a:rPr kumimoji="0" lang="es-MX" sz="2800" b="1" i="0" u="none" strike="noStrike" kern="0" cap="none" spc="-10" normalizeH="0" baseline="0" noProof="0" dirty="0" err="1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Eye</a:t>
            </a:r>
            <a:endParaRPr kumimoji="0" lang="es-MX" sz="2800" b="1" i="0" u="none" strike="noStrike" kern="0" cap="none" spc="-10" normalizeH="0" baseline="0" noProof="0" dirty="0">
              <a:ln>
                <a:noFill/>
              </a:ln>
              <a:solidFill>
                <a:srgbClr val="1B5FA7"/>
              </a:solidFill>
              <a:effectLst/>
              <a:uLnTx/>
              <a:uFillTx/>
              <a:latin typeface="Calibri"/>
              <a:ea typeface="+mj-ea"/>
              <a:cs typeface="Calibri"/>
            </a:endParaRPr>
          </a:p>
        </p:txBody>
      </p:sp>
      <p:sp>
        <p:nvSpPr>
          <p:cNvPr id="2" name="imgMarco-D7-1">
            <a:extLst>
              <a:ext uri="{FF2B5EF4-FFF2-40B4-BE49-F238E27FC236}">
                <a16:creationId xmlns:a16="http://schemas.microsoft.com/office/drawing/2014/main" id="{E5D0F55D-0C98-453F-B35C-DF86935ABA23}"/>
              </a:ext>
            </a:extLst>
          </p:cNvPr>
          <p:cNvSpPr/>
          <p:nvPr userDrawn="1"/>
        </p:nvSpPr>
        <p:spPr>
          <a:xfrm>
            <a:off x="539571" y="1435039"/>
            <a:ext cx="6693986" cy="34472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6F6BC878-F682-4F7E-9FF6-D924CC40BFAD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50546CA-8EAA-4F0D-AD42-8AD7D53A0BF4}"/>
              </a:ext>
            </a:extLst>
          </p:cNvPr>
          <p:cNvSpPr/>
          <p:nvPr userDrawn="1"/>
        </p:nvSpPr>
        <p:spPr>
          <a:xfrm>
            <a:off x="8134091" y="6226970"/>
            <a:ext cx="166847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u="none" dirty="0">
                <a:solidFill>
                  <a:srgbClr val="7E7E7E"/>
                </a:solidFill>
              </a:rPr>
              <a:t>Fuente: </a:t>
            </a:r>
            <a:r>
              <a:rPr lang="es-ES" sz="1600" u="none" dirty="0" err="1">
                <a:solidFill>
                  <a:srgbClr val="7E7E7E"/>
                </a:solidFill>
              </a:rPr>
              <a:t>ActiveEye</a:t>
            </a:r>
            <a:endParaRPr lang="es-ES" sz="1600" u="none" dirty="0">
              <a:solidFill>
                <a:srgbClr val="7E7E7E"/>
              </a:solidFill>
            </a:endParaRPr>
          </a:p>
        </p:txBody>
      </p:sp>
      <p:sp>
        <p:nvSpPr>
          <p:cNvPr id="10" name="T-PremierOneCAD">
            <a:extLst>
              <a:ext uri="{FF2B5EF4-FFF2-40B4-BE49-F238E27FC236}">
                <a16:creationId xmlns:a16="http://schemas.microsoft.com/office/drawing/2014/main" id="{6D579B36-393F-46FA-ADD2-04B81E2B0B9D}"/>
              </a:ext>
            </a:extLst>
          </p:cNvPr>
          <p:cNvSpPr/>
          <p:nvPr userDrawn="1"/>
        </p:nvSpPr>
        <p:spPr>
          <a:xfrm>
            <a:off x="1022094" y="1016000"/>
            <a:ext cx="3743960" cy="28349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i="1" dirty="0">
                <a:solidFill>
                  <a:srgbClr val="1B5FA7"/>
                </a:solidFill>
                <a:latin typeface="+mj-lt"/>
                <a:ea typeface="Calibri" pitchFamily="34" charset="-122"/>
                <a:cs typeface="Calibri" pitchFamily="34" charset="-120"/>
              </a:rPr>
              <a:t>PremierOne CAD  ·  Bogotá Colombia  ·  Julio 2026</a:t>
            </a:r>
            <a:endParaRPr lang="en-US" sz="1400" dirty="0">
              <a:solidFill>
                <a:srgbClr val="1B5FA7"/>
              </a:solidFill>
              <a:latin typeface="+mj-lt"/>
            </a:endParaRPr>
          </a:p>
        </p:txBody>
      </p:sp>
      <p:sp>
        <p:nvSpPr>
          <p:cNvPr id="12" name="T-EstadoGenral">
            <a:extLst>
              <a:ext uri="{FF2B5EF4-FFF2-40B4-BE49-F238E27FC236}">
                <a16:creationId xmlns:a16="http://schemas.microsoft.com/office/drawing/2014/main" id="{0AD0B05C-0560-458B-9743-D159284568D5}"/>
              </a:ext>
            </a:extLst>
          </p:cNvPr>
          <p:cNvSpPr/>
          <p:nvPr userDrawn="1"/>
        </p:nvSpPr>
        <p:spPr>
          <a:xfrm>
            <a:off x="7406332" y="1016000"/>
            <a:ext cx="1694940" cy="283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  <a:tabLst/>
            </a:pPr>
            <a:r>
              <a:rPr lang="en-US" sz="1800" b="1" dirty="0">
                <a:solidFill>
                  <a:srgbClr val="1B5FA7"/>
                </a:solidFill>
                <a:latin typeface="+mn-lt"/>
                <a:ea typeface="Cambria" pitchFamily="34" charset="-122"/>
                <a:cs typeface="Cambria" pitchFamily="34" charset="-120"/>
              </a:rPr>
              <a:t>Estado general</a:t>
            </a:r>
            <a:endParaRPr lang="en-US" sz="1800" dirty="0">
              <a:solidFill>
                <a:srgbClr val="1B5FA7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3085521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640">
          <p15:clr>
            <a:srgbClr val="FBAE40"/>
          </p15:clr>
        </p15:guide>
        <p15:guide id="5" orient="horz" pos="3974">
          <p15:clr>
            <a:srgbClr val="FBAE40"/>
          </p15:clr>
        </p15:guide>
        <p15:guide id="6" orient="horz" pos="82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2-DisponibilidadInterfacesVPN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59" y="401320"/>
            <a:ext cx="7710463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3</a:t>
            </a:r>
            <a:r>
              <a:rPr lang="es-ES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.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Disponibilidad</a:t>
            </a:r>
            <a:r>
              <a:rPr lang="es-ES" sz="2800" b="1" i="0" spc="-6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Interfaces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y</a:t>
            </a:r>
            <a:r>
              <a:rPr lang="es-ES" sz="2800" b="1" i="0" spc="-7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5" dirty="0" err="1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VPN’s</a:t>
            </a:r>
            <a:r>
              <a:rPr lang="es-ES" sz="2800" b="1" i="0" spc="-7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Operación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NUSE</a:t>
            </a:r>
            <a:endParaRPr sz="2800" spc="-10" dirty="0"/>
          </a:p>
        </p:txBody>
      </p:sp>
      <p:sp>
        <p:nvSpPr>
          <p:cNvPr id="10" name="Img-ServidorRadiosAPL-D8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ServidoresApl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4929982" y="935744"/>
            <a:ext cx="2332037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Servidor Radios </a:t>
            </a:r>
            <a:r>
              <a:rPr lang="es-ES" sz="2000" dirty="0" err="1">
                <a:solidFill>
                  <a:srgbClr val="1B5FA7"/>
                </a:solidFill>
                <a:latin typeface="+mn-lt"/>
                <a:cs typeface="Calibri"/>
              </a:rPr>
              <a:t>APL’s</a:t>
            </a:r>
            <a:endParaRPr lang="es-ES" sz="2000" dirty="0">
              <a:solidFill>
                <a:srgbClr val="1B5FA7"/>
              </a:solidFill>
              <a:latin typeface="+mn-lt"/>
              <a:cs typeface="Calibri"/>
            </a:endParaRP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2B6288B-357B-43E1-9E68-E67F373D026F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8221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9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2-DisponibilidadInterfacesVPN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59" y="401320"/>
            <a:ext cx="7710463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z="2800" spc="-10" dirty="0">
                <a:solidFill>
                  <a:srgbClr val="1B5FA7"/>
                </a:solidFill>
              </a:rPr>
              <a:t>I</a:t>
            </a:r>
            <a:r>
              <a:rPr lang="es-ES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.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Disponibilidad</a:t>
            </a:r>
            <a:r>
              <a:rPr lang="es-ES" sz="2800" b="1" i="0" spc="-6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Interfaces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y</a:t>
            </a:r>
            <a:r>
              <a:rPr lang="es-ES" sz="2800" b="1" i="0" spc="-7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5" dirty="0" err="1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VPN’s</a:t>
            </a:r>
            <a:r>
              <a:rPr lang="es-ES" sz="2800" b="1" i="0" spc="-7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Operación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NUSE</a:t>
            </a:r>
            <a:endParaRPr sz="2800" spc="-10" dirty="0"/>
          </a:p>
        </p:txBody>
      </p:sp>
      <p:sp>
        <p:nvSpPr>
          <p:cNvPr id="10" name="img-Marco-D9-1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98685" y="1436460"/>
            <a:ext cx="4834414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SiteToSite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158368" y="1023664"/>
            <a:ext cx="1875264" cy="22544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1435" marR="2540" indent="-43815" algn="ctr">
              <a:lnSpc>
                <a:spcPts val="1467"/>
              </a:lnSpc>
              <a:spcBef>
                <a:spcPts val="306"/>
              </a:spcBef>
              <a:defRPr/>
            </a:pPr>
            <a:r>
              <a:rPr lang="es-CO" sz="1800" noProof="0" dirty="0">
                <a:solidFill>
                  <a:srgbClr val="1B5FA7"/>
                </a:solidFill>
                <a:latin typeface="+mn-lt"/>
              </a:rPr>
              <a:t>VPN SITE TO SITE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img-Marco-D9-2">
            <a:extLst>
              <a:ext uri="{FF2B5EF4-FFF2-40B4-BE49-F238E27FC236}">
                <a16:creationId xmlns:a16="http://schemas.microsoft.com/office/drawing/2014/main" id="{C9A1605E-595A-4128-9CED-47C58E3C5F9F}"/>
              </a:ext>
            </a:extLst>
          </p:cNvPr>
          <p:cNvSpPr/>
          <p:nvPr userDrawn="1"/>
        </p:nvSpPr>
        <p:spPr>
          <a:xfrm>
            <a:off x="6158902" y="1436460"/>
            <a:ext cx="4834414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7F8B1EC-F759-462B-9796-0B8739F01498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02322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0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2-DisponibilidadInterfacesVPN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59" y="401320"/>
            <a:ext cx="7908825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z="2800" spc="-10" dirty="0">
                <a:solidFill>
                  <a:srgbClr val="1B5FA7"/>
                </a:solidFill>
              </a:rPr>
              <a:t>I </a:t>
            </a:r>
            <a:r>
              <a:rPr lang="es-MX" sz="2800" spc="-10" dirty="0" err="1">
                <a:solidFill>
                  <a:srgbClr val="1B5FA7"/>
                </a:solidFill>
              </a:rPr>
              <a:t>I</a:t>
            </a:r>
            <a:r>
              <a:rPr lang="es-MX" sz="2800" spc="-10">
                <a:solidFill>
                  <a:srgbClr val="1B5FA7"/>
                </a:solidFill>
              </a:rPr>
              <a:t> </a:t>
            </a:r>
            <a:r>
              <a:rPr lang="es-ES" sz="2800" b="1" i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.</a:t>
            </a:r>
            <a:r>
              <a:rPr lang="es-ES" sz="2800" b="1" i="0" spc="-85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Disponibilidad</a:t>
            </a:r>
            <a:r>
              <a:rPr lang="es-ES" sz="2800" b="1" i="0" spc="-6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Interfaces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y</a:t>
            </a:r>
            <a:r>
              <a:rPr lang="es-ES" sz="2800" b="1" i="0" spc="-7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5" dirty="0" err="1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VPN’s</a:t>
            </a:r>
            <a:r>
              <a:rPr lang="es-ES" sz="2800" b="1" i="0" spc="-7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Operación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NUSE</a:t>
            </a:r>
            <a:endParaRPr sz="2800" spc="-10" dirty="0"/>
          </a:p>
        </p:txBody>
      </p:sp>
      <p:sp>
        <p:nvSpPr>
          <p:cNvPr id="10" name="img-Marco-D10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adios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663819" y="935744"/>
            <a:ext cx="864362" cy="2904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s-ES" sz="1800" dirty="0">
                <a:solidFill>
                  <a:srgbClr val="1B5FA7"/>
                </a:solidFill>
                <a:latin typeface="+mn-lt"/>
                <a:cs typeface="Calibri"/>
              </a:rPr>
              <a:t>RADIOS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FE5F849-568C-4696-88BA-A212182757C6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30155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1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Vesta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158154" y="935744"/>
            <a:ext cx="1875692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2000" noProof="0" dirty="0">
                <a:solidFill>
                  <a:srgbClr val="1B5FA7"/>
                </a:solidFill>
                <a:latin typeface="+mn-lt"/>
              </a:rPr>
              <a:t>RED NUSE-VESTA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12" name="3-DisponibilidadEnlacesFibraOscura">
            <a:extLst>
              <a:ext uri="{FF2B5EF4-FFF2-40B4-BE49-F238E27FC236}">
                <a16:creationId xmlns:a16="http://schemas.microsoft.com/office/drawing/2014/main" id="{7A89ABA6-E602-47DA-9991-9771F890B97E}"/>
              </a:ext>
            </a:extLst>
          </p:cNvPr>
          <p:cNvSpPr txBox="1">
            <a:spLocks noGrp="1"/>
          </p:cNvSpPr>
          <p:nvPr userDrawn="1"/>
        </p:nvSpPr>
        <p:spPr>
          <a:xfrm>
            <a:off x="1055688" y="377182"/>
            <a:ext cx="5785485" cy="4737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pc="-10" dirty="0">
                <a:solidFill>
                  <a:srgbClr val="1B5FA7"/>
                </a:solidFill>
              </a:rPr>
              <a:t>3</a:t>
            </a:r>
            <a:r>
              <a:rPr spc="-10" dirty="0">
                <a:solidFill>
                  <a:srgbClr val="1B5FA7"/>
                </a:solidFill>
              </a:rPr>
              <a:t>.Disponibilidad</a:t>
            </a:r>
            <a:r>
              <a:rPr spc="-110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Enlaces</a:t>
            </a:r>
            <a:r>
              <a:rPr spc="-114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Fibra</a:t>
            </a:r>
            <a:r>
              <a:rPr spc="-120" dirty="0">
                <a:solidFill>
                  <a:srgbClr val="1B5FA7"/>
                </a:solidFill>
              </a:rPr>
              <a:t> </a:t>
            </a:r>
            <a:r>
              <a:rPr spc="-10" dirty="0">
                <a:solidFill>
                  <a:srgbClr val="1B5FA7"/>
                </a:solidFill>
              </a:rPr>
              <a:t>Oscura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E22ABC5-7931-429F-94DB-ED58A6CE8A43}"/>
              </a:ext>
            </a:extLst>
          </p:cNvPr>
          <p:cNvSpPr/>
          <p:nvPr userDrawn="1"/>
        </p:nvSpPr>
        <p:spPr>
          <a:xfrm>
            <a:off x="8142717" y="6209878"/>
            <a:ext cx="24137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r>
              <a:rPr lang="es-ES" sz="1600" dirty="0">
                <a:solidFill>
                  <a:srgbClr val="7E7E7E"/>
                </a:solidFill>
              </a:rPr>
              <a:t> - e-Monitor</a:t>
            </a:r>
          </a:p>
        </p:txBody>
      </p:sp>
    </p:spTree>
    <p:extLst>
      <p:ext uri="{BB962C8B-B14F-4D97-AF65-F5344CB8AC3E}">
        <p14:creationId xmlns:p14="http://schemas.microsoft.com/office/powerpoint/2010/main" val="310360320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2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-12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545015" y="935744"/>
            <a:ext cx="110197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2000" noProof="0" dirty="0">
                <a:solidFill>
                  <a:srgbClr val="1B5FA7"/>
                </a:solidFill>
                <a:latin typeface="+mn-lt"/>
              </a:rPr>
              <a:t>RED NUSE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12" name="3-DisponibilidadEnlacesFibraOscura">
            <a:extLst>
              <a:ext uri="{FF2B5EF4-FFF2-40B4-BE49-F238E27FC236}">
                <a16:creationId xmlns:a16="http://schemas.microsoft.com/office/drawing/2014/main" id="{7A89ABA6-E602-47DA-9991-9771F890B97E}"/>
              </a:ext>
            </a:extLst>
          </p:cNvPr>
          <p:cNvSpPr txBox="1">
            <a:spLocks noGrp="1"/>
          </p:cNvSpPr>
          <p:nvPr userDrawn="1"/>
        </p:nvSpPr>
        <p:spPr>
          <a:xfrm>
            <a:off x="1055688" y="377182"/>
            <a:ext cx="5785485" cy="4737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pc="-10" dirty="0">
                <a:solidFill>
                  <a:srgbClr val="1B5FA7"/>
                </a:solidFill>
              </a:rPr>
              <a:t>3</a:t>
            </a:r>
            <a:r>
              <a:rPr spc="-10" dirty="0">
                <a:solidFill>
                  <a:srgbClr val="1B5FA7"/>
                </a:solidFill>
              </a:rPr>
              <a:t>.Disponibilidad</a:t>
            </a:r>
            <a:r>
              <a:rPr spc="-110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Enlaces</a:t>
            </a:r>
            <a:r>
              <a:rPr spc="-114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Fibra</a:t>
            </a:r>
            <a:r>
              <a:rPr spc="-120" dirty="0">
                <a:solidFill>
                  <a:srgbClr val="1B5FA7"/>
                </a:solidFill>
              </a:rPr>
              <a:t> </a:t>
            </a:r>
            <a:r>
              <a:rPr spc="-10" dirty="0">
                <a:solidFill>
                  <a:srgbClr val="1B5FA7"/>
                </a:solidFill>
              </a:rPr>
              <a:t>Oscura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C63AE7B-9684-4EBC-BAC0-DB3D03E0FF17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81103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3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-13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492262" y="935744"/>
            <a:ext cx="120747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2000" noProof="0" dirty="0">
                <a:solidFill>
                  <a:srgbClr val="1B5FA7"/>
                </a:solidFill>
                <a:latin typeface="+mn-lt"/>
              </a:rPr>
              <a:t>RED NUSE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12" name="3-DisponibilidadEnlacesFibraOscura">
            <a:extLst>
              <a:ext uri="{FF2B5EF4-FFF2-40B4-BE49-F238E27FC236}">
                <a16:creationId xmlns:a16="http://schemas.microsoft.com/office/drawing/2014/main" id="{7A89ABA6-E602-47DA-9991-9771F890B97E}"/>
              </a:ext>
            </a:extLst>
          </p:cNvPr>
          <p:cNvSpPr txBox="1">
            <a:spLocks noGrp="1"/>
          </p:cNvSpPr>
          <p:nvPr userDrawn="1"/>
        </p:nvSpPr>
        <p:spPr>
          <a:xfrm>
            <a:off x="1055688" y="377182"/>
            <a:ext cx="5785485" cy="4737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pc="-10" dirty="0">
                <a:solidFill>
                  <a:srgbClr val="1B5FA7"/>
                </a:solidFill>
              </a:rPr>
              <a:t>3</a:t>
            </a:r>
            <a:r>
              <a:rPr spc="-10" dirty="0">
                <a:solidFill>
                  <a:srgbClr val="1B5FA7"/>
                </a:solidFill>
              </a:rPr>
              <a:t>.Disponibilidad</a:t>
            </a:r>
            <a:r>
              <a:rPr spc="-110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Enlaces</a:t>
            </a:r>
            <a:r>
              <a:rPr spc="-114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Fibra</a:t>
            </a:r>
            <a:r>
              <a:rPr spc="-120" dirty="0">
                <a:solidFill>
                  <a:srgbClr val="1B5FA7"/>
                </a:solidFill>
              </a:rPr>
              <a:t> </a:t>
            </a:r>
            <a:r>
              <a:rPr spc="-10" dirty="0">
                <a:solidFill>
                  <a:srgbClr val="1B5FA7"/>
                </a:solidFill>
              </a:rPr>
              <a:t>Oscura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370463D-B8B5-44B5-9FDB-F68C47429275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0776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4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3231154" y="1896427"/>
            <a:ext cx="5729692" cy="306514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-14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4848225" y="935744"/>
            <a:ext cx="249555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Servidores</a:t>
            </a:r>
            <a:r>
              <a:rPr lang="es-ES" sz="2000" spc="-70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Premier</a:t>
            </a:r>
            <a:r>
              <a:rPr lang="es-ES" sz="2000" spc="-5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2000" spc="-25" dirty="0" err="1">
                <a:solidFill>
                  <a:srgbClr val="1B5FA7"/>
                </a:solidFill>
                <a:latin typeface="+mn-lt"/>
                <a:cs typeface="Calibri"/>
              </a:rPr>
              <a:t>One</a:t>
            </a:r>
            <a:endParaRPr lang="es-ES" sz="2000" dirty="0">
              <a:solidFill>
                <a:srgbClr val="1B5FA7"/>
              </a:solidFill>
              <a:latin typeface="+mn-lt"/>
              <a:cs typeface="Calibri"/>
            </a:endParaRP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4-DisponibilidadServidores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9" y="391026"/>
            <a:ext cx="487807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spc="-25" dirty="0">
                <a:solidFill>
                  <a:srgbClr val="1B5FA7"/>
                </a:solidFill>
              </a:rPr>
              <a:t>4</a:t>
            </a:r>
            <a:r>
              <a:rPr sz="2800" spc="-25" dirty="0">
                <a:solidFill>
                  <a:srgbClr val="1B5FA7"/>
                </a:solidFill>
              </a:rPr>
              <a:t>.</a:t>
            </a:r>
            <a:r>
              <a:rPr sz="2800" spc="-10" dirty="0" err="1">
                <a:solidFill>
                  <a:srgbClr val="1B5FA7"/>
                </a:solidFill>
              </a:rPr>
              <a:t>Dispon</a:t>
            </a:r>
            <a:r>
              <a:rPr lang="es-ES" sz="2800" spc="-10" dirty="0">
                <a:solidFill>
                  <a:srgbClr val="1B5FA7"/>
                </a:solidFill>
              </a:rPr>
              <a:t>i</a:t>
            </a:r>
            <a:r>
              <a:rPr sz="2800" spc="-10" dirty="0" err="1">
                <a:solidFill>
                  <a:srgbClr val="1B5FA7"/>
                </a:solidFill>
              </a:rPr>
              <a:t>bilidad</a:t>
            </a:r>
            <a:r>
              <a:rPr sz="2800" spc="-70" dirty="0">
                <a:solidFill>
                  <a:srgbClr val="1B5FA7"/>
                </a:solidFill>
              </a:rPr>
              <a:t> </a:t>
            </a:r>
            <a:r>
              <a:rPr sz="2800" spc="-10" dirty="0">
                <a:solidFill>
                  <a:srgbClr val="1B5FA7"/>
                </a:solidFill>
              </a:rPr>
              <a:t>Servidores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E301D7C-ED73-47CC-A911-1BC75F7022C6}"/>
              </a:ext>
            </a:extLst>
          </p:cNvPr>
          <p:cNvSpPr/>
          <p:nvPr userDrawn="1"/>
        </p:nvSpPr>
        <p:spPr>
          <a:xfrm>
            <a:off x="3565580" y="5296933"/>
            <a:ext cx="50555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s-ES" sz="1600" dirty="0">
                <a:solidFill>
                  <a:srgbClr val="7E7E7E"/>
                </a:solidFill>
                <a:effectLst/>
              </a:rPr>
              <a:t>*Disponibilidad del 100% de los host 1 al 6.</a:t>
            </a:r>
            <a:endParaRPr lang="es-ES" sz="1600" dirty="0">
              <a:solidFill>
                <a:srgbClr val="7E7E7E"/>
              </a:solidFill>
            </a:endParaRPr>
          </a:p>
          <a:p>
            <a:pPr algn="l"/>
            <a:r>
              <a:rPr lang="es-ES" sz="1600" dirty="0">
                <a:solidFill>
                  <a:srgbClr val="7E7E7E"/>
                </a:solidFill>
                <a:effectLst/>
              </a:rPr>
              <a:t>*Porcentaje de uso en las </a:t>
            </a:r>
            <a:r>
              <a:rPr lang="es-ES" sz="1600" dirty="0" err="1">
                <a:solidFill>
                  <a:srgbClr val="7E7E7E"/>
                </a:solidFill>
                <a:effectLst/>
              </a:rPr>
              <a:t>CPUs</a:t>
            </a:r>
            <a:r>
              <a:rPr lang="es-ES" sz="1600" dirty="0">
                <a:solidFill>
                  <a:srgbClr val="7E7E7E"/>
                </a:solidFill>
                <a:effectLst/>
              </a:rPr>
              <a:t> de los host 21 al 26.</a:t>
            </a:r>
            <a:endParaRPr lang="es-ES" sz="1600" dirty="0">
              <a:solidFill>
                <a:srgbClr val="7E7E7E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B4C5310-6D04-4E01-8662-8273B805E5DC}"/>
              </a:ext>
            </a:extLst>
          </p:cNvPr>
          <p:cNvSpPr/>
          <p:nvPr userDrawn="1"/>
        </p:nvSpPr>
        <p:spPr>
          <a:xfrm>
            <a:off x="8142717" y="6209878"/>
            <a:ext cx="180921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SolarWinds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21712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5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Servidores-15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492262" y="935744"/>
            <a:ext cx="120747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2000" noProof="0" dirty="0">
                <a:solidFill>
                  <a:srgbClr val="1B5FA7"/>
                </a:solidFill>
                <a:latin typeface="+mn-lt"/>
              </a:rPr>
              <a:t>Servidores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4-DisponibilidadServidores">
            <a:extLst>
              <a:ext uri="{FF2B5EF4-FFF2-40B4-BE49-F238E27FC236}">
                <a16:creationId xmlns:a16="http://schemas.microsoft.com/office/drawing/2014/main" id="{8833F4A3-590A-4F3D-9B84-BF038F82507C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9" y="391253"/>
            <a:ext cx="487807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spc="-25" dirty="0"/>
              <a:t>4</a:t>
            </a:r>
            <a:r>
              <a:rPr sz="2800" spc="-25" dirty="0"/>
              <a:t>.</a:t>
            </a:r>
            <a:r>
              <a:rPr lang="es-MX" sz="2800" spc="-10" dirty="0"/>
              <a:t>D</a:t>
            </a:r>
            <a:r>
              <a:rPr sz="2800" spc="-10" dirty="0" err="1"/>
              <a:t>isponibilidad</a:t>
            </a:r>
            <a:r>
              <a:rPr sz="2800" spc="-70" dirty="0"/>
              <a:t> </a:t>
            </a:r>
            <a:r>
              <a:rPr sz="2800" spc="-10" dirty="0"/>
              <a:t>Servidores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73900BB-1B7D-4554-8085-9A5C83F81EFC}"/>
              </a:ext>
            </a:extLst>
          </p:cNvPr>
          <p:cNvSpPr/>
          <p:nvPr userDrawn="1"/>
        </p:nvSpPr>
        <p:spPr>
          <a:xfrm>
            <a:off x="8142717" y="6209878"/>
            <a:ext cx="24137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r>
              <a:rPr lang="es-ES" sz="1600" dirty="0">
                <a:solidFill>
                  <a:srgbClr val="7E7E7E"/>
                </a:solidFill>
              </a:rPr>
              <a:t> - e-Monitor</a:t>
            </a:r>
          </a:p>
        </p:txBody>
      </p:sp>
    </p:spTree>
    <p:extLst>
      <p:ext uri="{BB962C8B-B14F-4D97-AF65-F5344CB8AC3E}">
        <p14:creationId xmlns:p14="http://schemas.microsoft.com/office/powerpoint/2010/main" val="21542750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6-1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055687" y="1334820"/>
            <a:ext cx="10080625" cy="200976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5-VestaAnalytics">
            <a:extLst>
              <a:ext uri="{FF2B5EF4-FFF2-40B4-BE49-F238E27FC236}">
                <a16:creationId xmlns:a16="http://schemas.microsoft.com/office/drawing/2014/main" id="{8833F4A3-590A-4F3D-9B84-BF038F82507C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9" y="391253"/>
            <a:ext cx="2599531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>
                <a:solidFill>
                  <a:srgbClr val="1B5FA7"/>
                </a:solidFill>
              </a:rPr>
              <a:t>5.</a:t>
            </a:r>
            <a:r>
              <a:rPr lang="es-MX" sz="2800" spc="-50" dirty="0">
                <a:solidFill>
                  <a:srgbClr val="1B5FA7"/>
                </a:solidFill>
              </a:rPr>
              <a:t> </a:t>
            </a:r>
            <a:r>
              <a:rPr lang="es-MX" sz="2800" dirty="0">
                <a:solidFill>
                  <a:srgbClr val="1B5FA7"/>
                </a:solidFill>
              </a:rPr>
              <a:t>Vesta</a:t>
            </a:r>
            <a:r>
              <a:rPr lang="es-MX" sz="2800" spc="-60" dirty="0">
                <a:solidFill>
                  <a:srgbClr val="1B5FA7"/>
                </a:solidFill>
              </a:rPr>
              <a:t> </a:t>
            </a:r>
            <a:r>
              <a:rPr lang="es-MX" sz="2800" spc="-10" dirty="0" err="1">
                <a:solidFill>
                  <a:srgbClr val="1B5FA7"/>
                </a:solidFill>
              </a:rPr>
              <a:t>Analytics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2" name="Informacion-txt">
            <a:extLst>
              <a:ext uri="{FF2B5EF4-FFF2-40B4-BE49-F238E27FC236}">
                <a16:creationId xmlns:a16="http://schemas.microsoft.com/office/drawing/2014/main" id="{5CDDF090-F9D3-4D93-8FCB-F5ADDF45E770}"/>
              </a:ext>
            </a:extLst>
          </p:cNvPr>
          <p:cNvSpPr/>
          <p:nvPr userDrawn="1"/>
        </p:nvSpPr>
        <p:spPr>
          <a:xfrm>
            <a:off x="1018169" y="931957"/>
            <a:ext cx="33261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Información</a:t>
            </a:r>
            <a:r>
              <a:rPr lang="es-ES" sz="1800" b="0" spc="-55" dirty="0">
                <a:solidFill>
                  <a:srgbClr val="1B5FA7"/>
                </a:solidFill>
                <a:latin typeface="+mn-lt"/>
                <a:cs typeface="Calibri"/>
              </a:rPr>
              <a:t> d</a:t>
            </a:r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e</a:t>
            </a:r>
            <a:r>
              <a:rPr lang="es-ES" sz="1800" b="0" spc="-35" dirty="0">
                <a:solidFill>
                  <a:srgbClr val="1B5FA7"/>
                </a:solidFill>
                <a:latin typeface="+mn-lt"/>
                <a:cs typeface="Calibri"/>
              </a:rPr>
              <a:t> l</a:t>
            </a:r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lamadas</a:t>
            </a:r>
            <a:r>
              <a:rPr lang="es-ES" sz="1800" b="0" spc="-25" dirty="0">
                <a:solidFill>
                  <a:srgbClr val="1B5FA7"/>
                </a:solidFill>
                <a:latin typeface="+mn-lt"/>
                <a:cs typeface="Calibri"/>
              </a:rPr>
              <a:t> p</a:t>
            </a:r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or hora</a:t>
            </a:r>
            <a:endParaRPr lang="es-ES" dirty="0">
              <a:solidFill>
                <a:srgbClr val="1B5FA7"/>
              </a:solidFill>
            </a:endParaRPr>
          </a:p>
        </p:txBody>
      </p:sp>
      <p:sp>
        <p:nvSpPr>
          <p:cNvPr id="17" name="img-Marco-D16-2">
            <a:extLst>
              <a:ext uri="{FF2B5EF4-FFF2-40B4-BE49-F238E27FC236}">
                <a16:creationId xmlns:a16="http://schemas.microsoft.com/office/drawing/2014/main" id="{2B93523F-EA41-46A1-A942-7750F02A6096}"/>
              </a:ext>
            </a:extLst>
          </p:cNvPr>
          <p:cNvSpPr/>
          <p:nvPr userDrawn="1"/>
        </p:nvSpPr>
        <p:spPr>
          <a:xfrm>
            <a:off x="4403726" y="3747458"/>
            <a:ext cx="3384550" cy="225097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80A4A90-ADFD-4710-B91E-1E26905633A9}"/>
              </a:ext>
            </a:extLst>
          </p:cNvPr>
          <p:cNvSpPr/>
          <p:nvPr userDrawn="1"/>
        </p:nvSpPr>
        <p:spPr>
          <a:xfrm>
            <a:off x="8142717" y="6218504"/>
            <a:ext cx="15999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Analytics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43325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4906" userDrawn="1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  <p15:guide id="5" pos="2774" userDrawn="1">
          <p15:clr>
            <a:srgbClr val="FBAE40"/>
          </p15:clr>
        </p15:guide>
        <p15:guide id="6" orient="horz" pos="3929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7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6-DisponibilidadGrabadoraVERINT">
            <a:extLst>
              <a:ext uri="{FF2B5EF4-FFF2-40B4-BE49-F238E27FC236}">
                <a16:creationId xmlns:a16="http://schemas.microsoft.com/office/drawing/2014/main" id="{8833F4A3-590A-4F3D-9B84-BF038F82507C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9" y="391253"/>
            <a:ext cx="5276056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6.</a:t>
            </a:r>
            <a:r>
              <a:rPr lang="es-MX" sz="2800" spc="-60" dirty="0"/>
              <a:t> </a:t>
            </a:r>
            <a:r>
              <a:rPr lang="es-MX" sz="2800" spc="-10" dirty="0"/>
              <a:t>Disponibilidad</a:t>
            </a:r>
            <a:r>
              <a:rPr lang="es-MX" sz="2800" spc="-45" dirty="0"/>
              <a:t> </a:t>
            </a:r>
            <a:r>
              <a:rPr lang="es-MX" sz="2800" spc="-25" dirty="0"/>
              <a:t>Grabadora</a:t>
            </a:r>
            <a:r>
              <a:rPr lang="es-MX" sz="2800" spc="-75" dirty="0"/>
              <a:t> </a:t>
            </a:r>
            <a:r>
              <a:rPr lang="es-MX" sz="2800" spc="-10" dirty="0"/>
              <a:t>VERINT</a:t>
            </a:r>
            <a:endParaRPr sz="2800" spc="-10" dirty="0"/>
          </a:p>
        </p:txBody>
      </p:sp>
      <p:sp>
        <p:nvSpPr>
          <p:cNvPr id="10" name="img-Marco-D17-1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071085" y="1436460"/>
            <a:ext cx="7129951" cy="20877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img-Marco-D17-2">
            <a:extLst>
              <a:ext uri="{FF2B5EF4-FFF2-40B4-BE49-F238E27FC236}">
                <a16:creationId xmlns:a16="http://schemas.microsoft.com/office/drawing/2014/main" id="{72BEABAA-7CB5-4FA1-B7D2-5A9CB7E39EF1}"/>
              </a:ext>
            </a:extLst>
          </p:cNvPr>
          <p:cNvSpPr/>
          <p:nvPr userDrawn="1"/>
        </p:nvSpPr>
        <p:spPr>
          <a:xfrm>
            <a:off x="1055689" y="4056423"/>
            <a:ext cx="7129950" cy="20877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GrabacionesLlamadasSUR">
            <a:extLst>
              <a:ext uri="{FF2B5EF4-FFF2-40B4-BE49-F238E27FC236}">
                <a16:creationId xmlns:a16="http://schemas.microsoft.com/office/drawing/2014/main" id="{82AC3C06-057A-4B2D-B161-B7C03E213F15}"/>
              </a:ext>
            </a:extLst>
          </p:cNvPr>
          <p:cNvSpPr/>
          <p:nvPr userDrawn="1"/>
        </p:nvSpPr>
        <p:spPr>
          <a:xfrm>
            <a:off x="1060450" y="939284"/>
            <a:ext cx="26384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Grabaciones</a:t>
            </a:r>
            <a:r>
              <a:rPr lang="es-ES" sz="1800" b="0" spc="-9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llamadas</a:t>
            </a:r>
            <a:r>
              <a:rPr lang="es-ES" sz="1800" b="0" spc="-6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b="0" spc="-25" dirty="0">
                <a:solidFill>
                  <a:srgbClr val="1B5FA7"/>
                </a:solidFill>
                <a:latin typeface="+mn-lt"/>
                <a:cs typeface="Calibri"/>
              </a:rPr>
              <a:t>SUR</a:t>
            </a:r>
            <a:endParaRPr lang="es-ES" dirty="0">
              <a:solidFill>
                <a:srgbClr val="1B5FA7"/>
              </a:solidFill>
            </a:endParaRPr>
          </a:p>
        </p:txBody>
      </p:sp>
      <p:sp>
        <p:nvSpPr>
          <p:cNvPr id="14" name="Nota-txt">
            <a:extLst>
              <a:ext uri="{FF2B5EF4-FFF2-40B4-BE49-F238E27FC236}">
                <a16:creationId xmlns:a16="http://schemas.microsoft.com/office/drawing/2014/main" id="{A0ED07AE-916A-4161-8A77-DCC451280680}"/>
              </a:ext>
            </a:extLst>
          </p:cNvPr>
          <p:cNvSpPr txBox="1"/>
          <p:nvPr userDrawn="1"/>
        </p:nvSpPr>
        <p:spPr>
          <a:xfrm>
            <a:off x="8289163" y="4906365"/>
            <a:ext cx="2847148" cy="901529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210"/>
              </a:spcBef>
            </a:pPr>
            <a:r>
              <a:rPr sz="1400" dirty="0">
                <a:solidFill>
                  <a:srgbClr val="1B5FA7"/>
                </a:solidFill>
                <a:latin typeface="Calibri"/>
                <a:cs typeface="Calibri"/>
              </a:rPr>
              <a:t>Nota:</a:t>
            </a:r>
            <a:r>
              <a:rPr sz="1400" spc="-3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Se</a:t>
            </a:r>
            <a:r>
              <a:rPr sz="1400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realiza</a:t>
            </a:r>
            <a:r>
              <a:rPr sz="14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la</a:t>
            </a:r>
            <a:r>
              <a:rPr sz="14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revisión</a:t>
            </a:r>
            <a:r>
              <a:rPr sz="14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las</a:t>
            </a:r>
            <a:endParaRPr sz="1400" dirty="0">
              <a:solidFill>
                <a:srgbClr val="7E7E7E"/>
              </a:solidFill>
              <a:latin typeface="Calibri"/>
              <a:cs typeface="Calibri"/>
            </a:endParaRPr>
          </a:p>
          <a:p>
            <a:pPr marL="24765" marR="5080" indent="-12700" algn="just">
              <a:lnSpc>
                <a:spcPct val="100000"/>
              </a:lnSpc>
              <a:spcBef>
                <a:spcPts val="110"/>
              </a:spcBef>
            </a:pP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grabaciones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4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la</a:t>
            </a:r>
            <a:r>
              <a:rPr sz="14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SUR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y</a:t>
            </a:r>
            <a:r>
              <a:rPr sz="14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agencia CRUE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con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corte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0</a:t>
            </a:r>
            <a:r>
              <a:rPr lang="es-MX" sz="1400" dirty="0">
                <a:solidFill>
                  <a:srgbClr val="7E7E7E"/>
                </a:solidFill>
                <a:latin typeface="Calibri"/>
                <a:cs typeface="Calibri"/>
              </a:rPr>
              <a:t>8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:00,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se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encuentran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con</a:t>
            </a:r>
            <a:r>
              <a:rPr sz="14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normalidad.</a:t>
            </a:r>
            <a:endParaRPr sz="1400" dirty="0">
              <a:solidFill>
                <a:srgbClr val="7E7E7E"/>
              </a:solidFill>
              <a:latin typeface="Calibri"/>
              <a:cs typeface="Calibri"/>
            </a:endParaRPr>
          </a:p>
        </p:txBody>
      </p:sp>
      <p:sp>
        <p:nvSpPr>
          <p:cNvPr id="18" name="GrabacionesLlamadasSUR">
            <a:extLst>
              <a:ext uri="{FF2B5EF4-FFF2-40B4-BE49-F238E27FC236}">
                <a16:creationId xmlns:a16="http://schemas.microsoft.com/office/drawing/2014/main" id="{FB8E90DC-8954-496F-968C-EA970691F361}"/>
              </a:ext>
            </a:extLst>
          </p:cNvPr>
          <p:cNvSpPr/>
          <p:nvPr userDrawn="1"/>
        </p:nvSpPr>
        <p:spPr>
          <a:xfrm>
            <a:off x="1071085" y="3602313"/>
            <a:ext cx="27833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Grabaciones</a:t>
            </a:r>
            <a:r>
              <a:rPr lang="es-ES" sz="1800" b="0" spc="-9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llamadas</a:t>
            </a:r>
            <a:r>
              <a:rPr lang="es-ES" sz="1800" b="0" spc="-6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b="0" spc="-25" dirty="0">
                <a:solidFill>
                  <a:srgbClr val="1B5FA7"/>
                </a:solidFill>
                <a:latin typeface="+mn-lt"/>
                <a:cs typeface="Calibri"/>
              </a:rPr>
              <a:t>CRUE</a:t>
            </a:r>
            <a:endParaRPr lang="es-ES" dirty="0">
              <a:solidFill>
                <a:srgbClr val="1B5FA7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2B8ED17-B8D9-4515-9AFF-A820D640A2FE}"/>
              </a:ext>
            </a:extLst>
          </p:cNvPr>
          <p:cNvSpPr/>
          <p:nvPr userDrawn="1"/>
        </p:nvSpPr>
        <p:spPr>
          <a:xfrm>
            <a:off x="8142717" y="6209878"/>
            <a:ext cx="14713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VERINT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71415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8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3886199" y="1779715"/>
            <a:ext cx="4419602" cy="31818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BoxC4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516563" y="935744"/>
            <a:ext cx="115887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000" dirty="0" err="1">
                <a:solidFill>
                  <a:srgbClr val="1B5FA7"/>
                </a:solidFill>
                <a:latin typeface="+mn-lt"/>
                <a:cs typeface="Calibri"/>
              </a:rPr>
              <a:t>RedBox</a:t>
            </a:r>
            <a:r>
              <a:rPr lang="es-ES" sz="2000" spc="-25" dirty="0">
                <a:solidFill>
                  <a:srgbClr val="1B5FA7"/>
                </a:solidFill>
                <a:latin typeface="+mn-lt"/>
                <a:cs typeface="Calibri"/>
              </a:rPr>
              <a:t> C4</a:t>
            </a:r>
            <a:endParaRPr lang="es-ES" sz="2000" dirty="0">
              <a:solidFill>
                <a:srgbClr val="1B5FA7"/>
              </a:solidFill>
              <a:latin typeface="+mn-lt"/>
              <a:cs typeface="Calibri"/>
            </a:endParaRP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7-DisponibilidadGrabadoraRedBox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5342731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7.</a:t>
            </a:r>
            <a:r>
              <a:rPr lang="es-MX" sz="2800" spc="-60" dirty="0"/>
              <a:t> </a:t>
            </a:r>
            <a:r>
              <a:rPr lang="es-MX" sz="2800" spc="-10" dirty="0"/>
              <a:t>Disponibilidad</a:t>
            </a:r>
            <a:r>
              <a:rPr lang="es-MX" sz="2800" spc="-45" dirty="0"/>
              <a:t> </a:t>
            </a:r>
            <a:r>
              <a:rPr lang="es-MX" sz="2800" spc="-25" dirty="0"/>
              <a:t>Grabadora</a:t>
            </a:r>
            <a:r>
              <a:rPr lang="es-MX" sz="2800" spc="-70" dirty="0"/>
              <a:t> </a:t>
            </a:r>
            <a:r>
              <a:rPr lang="es-MX" sz="2800" spc="-10" dirty="0" err="1"/>
              <a:t>RedBox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2BBCBA7-5DB9-4068-B79E-94AD4225E60B}"/>
              </a:ext>
            </a:extLst>
          </p:cNvPr>
          <p:cNvSpPr/>
          <p:nvPr userDrawn="1"/>
        </p:nvSpPr>
        <p:spPr>
          <a:xfrm>
            <a:off x="2672862" y="5209242"/>
            <a:ext cx="68462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Datos no archivados “0%”: Grabaciones correctamente almacenadas en la SAN. Utilización del grabador: Porcentaje de canales siendo utilizados en tiempo real. Llamadas siendo grabadas: Cantidad de llamadas siendo grabadas en tiempo real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0B5AB63-B58E-4543-8842-ED7A961996C7}"/>
              </a:ext>
            </a:extLst>
          </p:cNvPr>
          <p:cNvSpPr/>
          <p:nvPr userDrawn="1"/>
        </p:nvSpPr>
        <p:spPr>
          <a:xfrm>
            <a:off x="8142717" y="6209878"/>
            <a:ext cx="247542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e-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Monitor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-</a:t>
            </a:r>
            <a:r>
              <a:rPr lang="es-ES" sz="1600" spc="-4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RedBox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74204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9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9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8-ProcesamientoBDProduccionPremierOne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6608824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ES" sz="2800" dirty="0"/>
              <a:t>8.</a:t>
            </a:r>
            <a:r>
              <a:rPr lang="es-ES" sz="2800" spc="-60" dirty="0"/>
              <a:t> </a:t>
            </a:r>
            <a:r>
              <a:rPr lang="es-ES" sz="2800" spc="-20" dirty="0"/>
              <a:t>Procesamiento</a:t>
            </a:r>
            <a:r>
              <a:rPr lang="es-ES" sz="2800" spc="-85" dirty="0"/>
              <a:t> </a:t>
            </a:r>
            <a:r>
              <a:rPr lang="es-ES" sz="2800" dirty="0"/>
              <a:t>BD</a:t>
            </a:r>
            <a:r>
              <a:rPr lang="es-ES" sz="2800" spc="-70" dirty="0"/>
              <a:t> </a:t>
            </a:r>
            <a:r>
              <a:rPr lang="es-ES" sz="2800" spc="-10" dirty="0"/>
              <a:t>Producción</a:t>
            </a:r>
            <a:r>
              <a:rPr lang="es-ES" sz="2800" spc="-70" dirty="0"/>
              <a:t> </a:t>
            </a:r>
            <a:r>
              <a:rPr lang="es-ES" sz="2800" spc="-10" dirty="0" err="1"/>
              <a:t>PremierOne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376189C-5910-4FDC-9B2D-BF0D77A06126}"/>
              </a:ext>
            </a:extLst>
          </p:cNvPr>
          <p:cNvSpPr/>
          <p:nvPr userDrawn="1"/>
        </p:nvSpPr>
        <p:spPr>
          <a:xfrm>
            <a:off x="8142717" y="6209878"/>
            <a:ext cx="14988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Vcenter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63056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0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0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4197413" y="2192760"/>
            <a:ext cx="3797174" cy="26131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8-ProcesamientoBDProduccionPremierOne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4322824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9.</a:t>
            </a:r>
            <a:r>
              <a:rPr lang="es-MX" sz="2800" spc="-114" dirty="0"/>
              <a:t> </a:t>
            </a:r>
            <a:r>
              <a:rPr lang="es-MX" sz="2800" dirty="0"/>
              <a:t>Estado</a:t>
            </a:r>
            <a:r>
              <a:rPr lang="es-MX" sz="2800" spc="-120" dirty="0"/>
              <a:t> </a:t>
            </a:r>
            <a:r>
              <a:rPr lang="es-MX" sz="2800" spc="-20" dirty="0"/>
              <a:t>Arquitectura</a:t>
            </a:r>
            <a:r>
              <a:rPr lang="es-MX" sz="2800" spc="-75" dirty="0"/>
              <a:t> </a:t>
            </a:r>
            <a:r>
              <a:rPr lang="es-MX" sz="2800" spc="-10" dirty="0"/>
              <a:t>MITEL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2" name="EstadoServidor-txt">
            <a:extLst>
              <a:ext uri="{FF2B5EF4-FFF2-40B4-BE49-F238E27FC236}">
                <a16:creationId xmlns:a16="http://schemas.microsoft.com/office/drawing/2014/main" id="{270C6575-B7C6-4A73-B756-C5DE947DDE4A}"/>
              </a:ext>
            </a:extLst>
          </p:cNvPr>
          <p:cNvSpPr/>
          <p:nvPr userDrawn="1"/>
        </p:nvSpPr>
        <p:spPr>
          <a:xfrm>
            <a:off x="1001713" y="938473"/>
            <a:ext cx="10188575" cy="1024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lang="es-ES" sz="1600" dirty="0">
                <a:solidFill>
                  <a:srgbClr val="1B5FA7"/>
                </a:solidFill>
                <a:latin typeface="+mn-lt"/>
                <a:cs typeface="Calibri"/>
              </a:rPr>
              <a:t>Estado</a:t>
            </a:r>
            <a:r>
              <a:rPr lang="es-ES" sz="1600" spc="-5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1B5FA7"/>
                </a:solidFill>
                <a:latin typeface="+mn-lt"/>
                <a:cs typeface="Calibri"/>
              </a:rPr>
              <a:t>del</a:t>
            </a:r>
            <a:r>
              <a:rPr lang="es-ES" sz="1600" spc="-4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1B5FA7"/>
                </a:solidFill>
                <a:latin typeface="+mn-lt"/>
                <a:cs typeface="Calibri"/>
              </a:rPr>
              <a:t>servidor</a:t>
            </a:r>
            <a:endParaRPr lang="es-ES" sz="1600" dirty="0">
              <a:solidFill>
                <a:srgbClr val="1B5FA7"/>
              </a:solidFill>
              <a:latin typeface="+mn-lt"/>
              <a:cs typeface="Calibri"/>
            </a:endParaRPr>
          </a:p>
          <a:p>
            <a:pPr marL="56515" marR="5080" indent="-5080">
              <a:lnSpc>
                <a:spcPts val="1500"/>
              </a:lnSpc>
              <a:spcBef>
                <a:spcPts val="780"/>
              </a:spcBef>
            </a:pP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Se evidencia</a:t>
            </a:r>
            <a:r>
              <a:rPr lang="es-ES" sz="1600" spc="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la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solución</a:t>
            </a:r>
            <a:r>
              <a:rPr lang="es-ES" sz="1600" spc="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que</a:t>
            </a:r>
            <a:r>
              <a:rPr lang="es-ES" sz="1600" spc="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conforma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el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sistema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de</a:t>
            </a:r>
            <a:r>
              <a:rPr lang="es-ES" sz="1600" spc="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grabación</a:t>
            </a:r>
            <a:r>
              <a:rPr lang="es-ES" sz="1600" spc="2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de</a:t>
            </a:r>
            <a:r>
              <a:rPr lang="es-ES" sz="1600" spc="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contingencia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MITEL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y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firewall</a:t>
            </a:r>
            <a:r>
              <a:rPr lang="es-ES" sz="1600" spc="2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 err="1">
                <a:solidFill>
                  <a:srgbClr val="7E7E7E"/>
                </a:solidFill>
                <a:latin typeface="+mn-lt"/>
                <a:cs typeface="Calibri"/>
              </a:rPr>
              <a:t>PFsense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,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operando</a:t>
            </a:r>
            <a:r>
              <a:rPr lang="es-ES" sz="1600" spc="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con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normalidad,</a:t>
            </a:r>
            <a:r>
              <a:rPr lang="es-ES" sz="1600" spc="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presentando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un</a:t>
            </a:r>
            <a:r>
              <a:rPr lang="es-ES" sz="1600" spc="-2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rendimiento optimo,</a:t>
            </a:r>
            <a:r>
              <a:rPr lang="es-ES" sz="1600" spc="-2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disponibilidad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en</a:t>
            </a:r>
            <a:r>
              <a:rPr lang="es-ES" sz="1600" spc="-2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los</a:t>
            </a:r>
            <a:r>
              <a:rPr lang="es-ES" sz="1600" spc="-2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servicios</a:t>
            </a:r>
            <a:r>
              <a:rPr lang="es-ES" sz="1600" spc="-4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críticos</a:t>
            </a:r>
            <a:r>
              <a:rPr lang="es-ES" sz="1600" spc="-2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y</a:t>
            </a:r>
            <a:r>
              <a:rPr lang="es-ES" sz="1600" spc="-2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garantizando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estabilidad</a:t>
            </a:r>
            <a:r>
              <a:rPr lang="es-ES" sz="1600" spc="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en</a:t>
            </a:r>
            <a:r>
              <a:rPr lang="es-ES" sz="1600" spc="-3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la</a:t>
            </a:r>
            <a:r>
              <a:rPr lang="es-ES" sz="1600" spc="-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red,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sin</a:t>
            </a:r>
            <a:r>
              <a:rPr lang="es-ES" sz="1600" spc="-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afectaciones.</a:t>
            </a:r>
            <a:endParaRPr lang="es-ES" sz="1800" dirty="0">
              <a:solidFill>
                <a:srgbClr val="7E7E7E"/>
              </a:solidFill>
              <a:latin typeface="+mn-lt"/>
              <a:cs typeface="Calibri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EE8E5DF-FBB0-4C2F-8BEA-3DECD28943C5}"/>
              </a:ext>
            </a:extLst>
          </p:cNvPr>
          <p:cNvSpPr/>
          <p:nvPr userDrawn="1"/>
        </p:nvSpPr>
        <p:spPr>
          <a:xfrm>
            <a:off x="8148638" y="6209878"/>
            <a:ext cx="32014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  <a:latin typeface="+mn-lt"/>
                <a:cs typeface="Calibri"/>
              </a:rPr>
              <a:t>vCenter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,</a:t>
            </a:r>
            <a:r>
              <a:rPr lang="es-ES" sz="1600" spc="-4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 err="1">
                <a:solidFill>
                  <a:srgbClr val="7E7E7E"/>
                </a:solidFill>
                <a:latin typeface="+mn-lt"/>
                <a:cs typeface="Calibri"/>
              </a:rPr>
              <a:t>Emonitor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y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PFsense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901436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  <p15:guide id="5" pos="5133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1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0-VestaAnalytics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278417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10.</a:t>
            </a:r>
            <a:r>
              <a:rPr lang="es-MX" sz="2800" spc="-65" dirty="0"/>
              <a:t> </a:t>
            </a:r>
            <a:r>
              <a:rPr lang="es-MX" sz="2800" spc="-40" dirty="0"/>
              <a:t>Vesta</a:t>
            </a:r>
            <a:r>
              <a:rPr lang="es-MX" sz="2800" spc="-80" dirty="0"/>
              <a:t> </a:t>
            </a:r>
            <a:r>
              <a:rPr lang="es-MX" sz="2800" spc="-10" dirty="0" err="1"/>
              <a:t>Analytics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2" name="CantLlamadas-txt">
            <a:extLst>
              <a:ext uri="{FF2B5EF4-FFF2-40B4-BE49-F238E27FC236}">
                <a16:creationId xmlns:a16="http://schemas.microsoft.com/office/drawing/2014/main" id="{B3D4D983-37D2-472E-8385-7CC0C0232864}"/>
              </a:ext>
            </a:extLst>
          </p:cNvPr>
          <p:cNvSpPr/>
          <p:nvPr userDrawn="1"/>
        </p:nvSpPr>
        <p:spPr>
          <a:xfrm>
            <a:off x="1055067" y="931955"/>
            <a:ext cx="34700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Cantidad</a:t>
            </a:r>
            <a:r>
              <a:rPr lang="es-ES" sz="1800" b="0" spc="-20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de</a:t>
            </a:r>
            <a:r>
              <a:rPr lang="es-ES" sz="1800" b="0" spc="-3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llamadas</a:t>
            </a:r>
            <a:r>
              <a:rPr lang="es-ES" sz="1800" b="0" spc="-30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por</a:t>
            </a:r>
            <a:r>
              <a:rPr lang="es-ES" sz="1800" b="0" spc="-50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b="0" spc="-10" dirty="0">
                <a:solidFill>
                  <a:srgbClr val="1B5FA7"/>
                </a:solidFill>
                <a:latin typeface="+mn-lt"/>
                <a:cs typeface="Calibri"/>
              </a:rPr>
              <a:t>operador</a:t>
            </a:r>
            <a:endParaRPr lang="es-ES" dirty="0">
              <a:solidFill>
                <a:srgbClr val="1B5FA7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DB0C0AC-B4A2-4BD2-B9DD-B80F09F370B5}"/>
              </a:ext>
            </a:extLst>
          </p:cNvPr>
          <p:cNvSpPr/>
          <p:nvPr userDrawn="1"/>
        </p:nvSpPr>
        <p:spPr>
          <a:xfrm>
            <a:off x="8148638" y="6209878"/>
            <a:ext cx="21701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Vesta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Analytics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0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2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1-VestaAnalytics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278417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11.</a:t>
            </a:r>
            <a:r>
              <a:rPr lang="es-MX" sz="2800" spc="-65" dirty="0"/>
              <a:t> </a:t>
            </a:r>
            <a:r>
              <a:rPr lang="es-MX" sz="2800" spc="-40" dirty="0"/>
              <a:t>Vesta</a:t>
            </a:r>
            <a:r>
              <a:rPr lang="es-MX" sz="2800" spc="-80" dirty="0"/>
              <a:t> </a:t>
            </a:r>
            <a:r>
              <a:rPr lang="es-MX" sz="2800" spc="-10" dirty="0" err="1"/>
              <a:t>Analytics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2" name="CantLlamadas-txt">
            <a:extLst>
              <a:ext uri="{FF2B5EF4-FFF2-40B4-BE49-F238E27FC236}">
                <a16:creationId xmlns:a16="http://schemas.microsoft.com/office/drawing/2014/main" id="{B3D4D983-37D2-472E-8385-7CC0C0232864}"/>
              </a:ext>
            </a:extLst>
          </p:cNvPr>
          <p:cNvSpPr/>
          <p:nvPr userDrawn="1"/>
        </p:nvSpPr>
        <p:spPr>
          <a:xfrm>
            <a:off x="1055067" y="931955"/>
            <a:ext cx="22638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Duración de llamadas.</a:t>
            </a:r>
            <a:endParaRPr lang="es-ES" dirty="0">
              <a:solidFill>
                <a:srgbClr val="1B5FA7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C55787D-7364-422F-BF75-D13364EA3AF0}"/>
              </a:ext>
            </a:extLst>
          </p:cNvPr>
          <p:cNvSpPr/>
          <p:nvPr userDrawn="1"/>
        </p:nvSpPr>
        <p:spPr>
          <a:xfrm>
            <a:off x="8148638" y="6209878"/>
            <a:ext cx="21701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Vesta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Analytics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45306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3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2-VestaAnalytics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278417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12.</a:t>
            </a:r>
            <a:r>
              <a:rPr lang="es-MX" sz="2800" spc="-65" dirty="0"/>
              <a:t> </a:t>
            </a:r>
            <a:r>
              <a:rPr lang="es-MX" sz="2800" spc="-40" dirty="0"/>
              <a:t>Vesta</a:t>
            </a:r>
            <a:r>
              <a:rPr lang="es-MX" sz="2800" spc="-80" dirty="0"/>
              <a:t> </a:t>
            </a:r>
            <a:r>
              <a:rPr lang="es-MX" sz="2800" spc="-10" dirty="0" err="1"/>
              <a:t>Analytics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2" name="CantLlamadas-txt">
            <a:extLst>
              <a:ext uri="{FF2B5EF4-FFF2-40B4-BE49-F238E27FC236}">
                <a16:creationId xmlns:a16="http://schemas.microsoft.com/office/drawing/2014/main" id="{B3D4D983-37D2-472E-8385-7CC0C0232864}"/>
              </a:ext>
            </a:extLst>
          </p:cNvPr>
          <p:cNvSpPr/>
          <p:nvPr userDrawn="1"/>
        </p:nvSpPr>
        <p:spPr>
          <a:xfrm>
            <a:off x="1055067" y="931955"/>
            <a:ext cx="33398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Resumen de llamadas clasificadas</a:t>
            </a:r>
            <a:endParaRPr lang="es-ES" dirty="0">
              <a:solidFill>
                <a:srgbClr val="1B5FA7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EBBA9D3-3BDE-4639-A1AD-1D15BC956DFF}"/>
              </a:ext>
            </a:extLst>
          </p:cNvPr>
          <p:cNvSpPr/>
          <p:nvPr userDrawn="1"/>
        </p:nvSpPr>
        <p:spPr>
          <a:xfrm>
            <a:off x="8148638" y="6209878"/>
            <a:ext cx="21701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Vesta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Analytics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948991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4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3-ConsumoInternetCanalPrincipal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8200232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ES" sz="2800" dirty="0"/>
              <a:t>13.</a:t>
            </a:r>
            <a:r>
              <a:rPr lang="es-ES" sz="2800" spc="-95" dirty="0"/>
              <a:t> </a:t>
            </a:r>
            <a:r>
              <a:rPr lang="es-ES" sz="2800" dirty="0"/>
              <a:t>Consumo</a:t>
            </a:r>
            <a:r>
              <a:rPr lang="es-ES" sz="2800" spc="-95" dirty="0"/>
              <a:t> </a:t>
            </a:r>
            <a:r>
              <a:rPr lang="es-ES" sz="2800" dirty="0"/>
              <a:t>internet</a:t>
            </a:r>
            <a:r>
              <a:rPr lang="es-ES" sz="2800" spc="-75" dirty="0"/>
              <a:t> </a:t>
            </a:r>
            <a:r>
              <a:rPr lang="es-ES" sz="2800" dirty="0"/>
              <a:t>canal</a:t>
            </a:r>
            <a:r>
              <a:rPr lang="es-ES" sz="2800" spc="-80" dirty="0"/>
              <a:t> </a:t>
            </a:r>
            <a:r>
              <a:rPr lang="es-ES" sz="2800" dirty="0"/>
              <a:t>principal</a:t>
            </a:r>
            <a:r>
              <a:rPr lang="es-ES" sz="2800" spc="-75" dirty="0"/>
              <a:t> 1 GB </a:t>
            </a:r>
            <a:r>
              <a:rPr lang="es-ES" sz="2800" dirty="0"/>
              <a:t>y</a:t>
            </a:r>
            <a:r>
              <a:rPr lang="es-ES" sz="2800" spc="-80" dirty="0"/>
              <a:t> </a:t>
            </a:r>
            <a:r>
              <a:rPr lang="es-ES" sz="2800" dirty="0" err="1"/>
              <a:t>backup</a:t>
            </a:r>
            <a:r>
              <a:rPr lang="es-ES" sz="2800" spc="-105" dirty="0"/>
              <a:t> 1 GB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98BB1B3-0E63-47BF-8A6E-FAB6BBF4921F}"/>
              </a:ext>
            </a:extLst>
          </p:cNvPr>
          <p:cNvSpPr/>
          <p:nvPr userDrawn="1"/>
        </p:nvSpPr>
        <p:spPr>
          <a:xfrm>
            <a:off x="8148638" y="6209878"/>
            <a:ext cx="15081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MX" sz="1600" spc="-10" dirty="0" err="1">
                <a:solidFill>
                  <a:srgbClr val="7E7E7E"/>
                </a:solidFill>
                <a:latin typeface="+mn-lt"/>
                <a:cs typeface="Calibri"/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33213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5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2595764"/>
            <a:ext cx="9839144" cy="166647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4-DisponibilidadVPNVESTA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5896647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ES" sz="2800" dirty="0">
                <a:solidFill>
                  <a:srgbClr val="1B5FA7"/>
                </a:solidFill>
              </a:rPr>
              <a:t>14.</a:t>
            </a:r>
            <a:r>
              <a:rPr lang="es-ES" sz="2800" spc="-80" dirty="0">
                <a:solidFill>
                  <a:srgbClr val="1B5FA7"/>
                </a:solidFill>
              </a:rPr>
              <a:t> </a:t>
            </a:r>
            <a:r>
              <a:rPr lang="es-ES" sz="2800" spc="-10" dirty="0">
                <a:solidFill>
                  <a:srgbClr val="1B5FA7"/>
                </a:solidFill>
              </a:rPr>
              <a:t>Disponibilidad</a:t>
            </a:r>
            <a:r>
              <a:rPr lang="es-ES" sz="2800" spc="-60" dirty="0">
                <a:solidFill>
                  <a:srgbClr val="1B5FA7"/>
                </a:solidFill>
              </a:rPr>
              <a:t> </a:t>
            </a:r>
            <a:r>
              <a:rPr lang="es-ES" sz="2800" dirty="0">
                <a:solidFill>
                  <a:srgbClr val="1B5FA7"/>
                </a:solidFill>
              </a:rPr>
              <a:t>VPN</a:t>
            </a:r>
            <a:r>
              <a:rPr lang="es-ES" sz="2800" spc="-65" dirty="0">
                <a:solidFill>
                  <a:srgbClr val="1B5FA7"/>
                </a:solidFill>
              </a:rPr>
              <a:t> </a:t>
            </a:r>
            <a:r>
              <a:rPr lang="es-ES" sz="2800" dirty="0">
                <a:solidFill>
                  <a:srgbClr val="1B5FA7"/>
                </a:solidFill>
              </a:rPr>
              <a:t>VESTA</a:t>
            </a:r>
            <a:r>
              <a:rPr lang="es-ES" sz="2800" spc="-80" dirty="0">
                <a:solidFill>
                  <a:srgbClr val="1B5FA7"/>
                </a:solidFill>
              </a:rPr>
              <a:t> </a:t>
            </a:r>
            <a:r>
              <a:rPr lang="es-ES" sz="2800" spc="-10" dirty="0">
                <a:solidFill>
                  <a:srgbClr val="1B5FA7"/>
                </a:solidFill>
              </a:rPr>
              <a:t>FW_CUNI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80C8212-F4F5-496C-BE63-51AD508D875B}"/>
              </a:ext>
            </a:extLst>
          </p:cNvPr>
          <p:cNvSpPr/>
          <p:nvPr userDrawn="1"/>
        </p:nvSpPr>
        <p:spPr>
          <a:xfrm>
            <a:off x="8148638" y="6209878"/>
            <a:ext cx="27033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FW_CUNI</a:t>
            </a:r>
            <a:r>
              <a:rPr lang="es-ES" sz="1600" spc="-4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SONICWALL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634981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5-Novedades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2221463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ES" sz="2800" dirty="0"/>
              <a:t>15.</a:t>
            </a:r>
            <a:r>
              <a:rPr lang="es-ES" sz="2800" spc="-65" dirty="0"/>
              <a:t> </a:t>
            </a:r>
            <a:r>
              <a:rPr lang="es-ES" sz="2800" spc="-10" dirty="0"/>
              <a:t>Novedades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6156628-7A36-4F57-936A-BE480BA19288}"/>
              </a:ext>
            </a:extLst>
          </p:cNvPr>
          <p:cNvSpPr/>
          <p:nvPr userDrawn="1"/>
        </p:nvSpPr>
        <p:spPr>
          <a:xfrm>
            <a:off x="8148638" y="6209878"/>
            <a:ext cx="27033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u="none" dirty="0">
                <a:solidFill>
                  <a:srgbClr val="7E7E7E"/>
                </a:solidFill>
              </a:rPr>
              <a:t>Fuente: </a:t>
            </a:r>
            <a:r>
              <a:rPr lang="es-ES" sz="1600" u="none" dirty="0">
                <a:solidFill>
                  <a:srgbClr val="7E7E7E"/>
                </a:solidFill>
                <a:latin typeface="+mn-lt"/>
                <a:cs typeface="Calibri"/>
              </a:rPr>
              <a:t>FW_CUNI</a:t>
            </a:r>
            <a:r>
              <a:rPr lang="es-ES" sz="1600" u="none" spc="-4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u="none" spc="-10" dirty="0">
                <a:solidFill>
                  <a:srgbClr val="7E7E7E"/>
                </a:solidFill>
                <a:latin typeface="+mn-lt"/>
                <a:cs typeface="Calibri"/>
              </a:rPr>
              <a:t>SONICWALL</a:t>
            </a:r>
            <a:endParaRPr lang="es-ES" sz="1600" u="none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03023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7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2722594-9B08-4F0A-8F62-720E6A6FB9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883" y="301839"/>
            <a:ext cx="615749" cy="463336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BF1F434-470B-4A0B-9519-26A6AC1E4031}"/>
              </a:ext>
            </a:extLst>
          </p:cNvPr>
          <p:cNvSpPr/>
          <p:nvPr userDrawn="1"/>
        </p:nvSpPr>
        <p:spPr>
          <a:xfrm>
            <a:off x="839788" y="2105561"/>
            <a:ext cx="321479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8000" spc="-10" dirty="0">
                <a:solidFill>
                  <a:srgbClr val="FFFFFF"/>
                </a:solidFill>
              </a:rPr>
              <a:t>Gracias</a:t>
            </a:r>
            <a:endParaRPr lang="es-ES" sz="8000" dirty="0"/>
          </a:p>
        </p:txBody>
      </p:sp>
    </p:spTree>
    <p:extLst>
      <p:ext uri="{BB962C8B-B14F-4D97-AF65-F5344CB8AC3E}">
        <p14:creationId xmlns:p14="http://schemas.microsoft.com/office/powerpoint/2010/main" val="19113955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5231991-B6F9-4E33-B9CF-916AD08916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883" y="301839"/>
            <a:ext cx="615749" cy="4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403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rasLoQueCreas">
            <a:extLst>
              <a:ext uri="{FF2B5EF4-FFF2-40B4-BE49-F238E27FC236}">
                <a16:creationId xmlns:a16="http://schemas.microsoft.com/office/drawing/2014/main" id="{F3E134CC-26D6-4C2A-A912-C5C8C980558A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chemeClr val="bg1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chemeClr val="bg1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chemeClr val="bg1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chemeClr val="bg1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609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1" r:id="rId4"/>
    <p:sldLayoutId id="2147483657" r:id="rId5"/>
    <p:sldLayoutId id="2147483658" r:id="rId6"/>
    <p:sldLayoutId id="2147483656" r:id="rId7"/>
    <p:sldLayoutId id="2147483681" r:id="rId8"/>
    <p:sldLayoutId id="2147483660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  <p:sldLayoutId id="2147483673" r:id="rId20"/>
    <p:sldLayoutId id="2147483674" r:id="rId21"/>
    <p:sldLayoutId id="2147483675" r:id="rId22"/>
    <p:sldLayoutId id="2147483676" r:id="rId23"/>
    <p:sldLayoutId id="2147483677" r:id="rId24"/>
    <p:sldLayoutId id="2147483678" r:id="rId25"/>
    <p:sldLayoutId id="2147483679" r:id="rId26"/>
    <p:sldLayoutId id="2147483680" r:id="rId27"/>
    <p:sldLayoutId id="2147483652" r:id="rId28"/>
    <p:sldLayoutId id="2147483653" r:id="rId29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8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083" userDrawn="1">
          <p15:clr>
            <a:srgbClr val="F26B43"/>
          </p15:clr>
        </p15:guide>
        <p15:guide id="4" orient="horz" pos="482" userDrawn="1">
          <p15:clr>
            <a:srgbClr val="F26B43"/>
          </p15:clr>
        </p15:guide>
        <p15:guide id="5" orient="horz" pos="4110" userDrawn="1">
          <p15:clr>
            <a:srgbClr val="F26B43"/>
          </p15:clr>
        </p15:guide>
        <p15:guide id="6" pos="5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Fecha">
            <a:extLst>
              <a:ext uri="{FF2B5EF4-FFF2-40B4-BE49-F238E27FC236}">
                <a16:creationId xmlns:a16="http://schemas.microsoft.com/office/drawing/2014/main" id="{6C500255-02F8-4828-8EF3-65655588ED80}"/>
              </a:ext>
            </a:extLst>
          </p:cNvPr>
          <p:cNvSpPr txBox="1"/>
          <p:nvPr/>
        </p:nvSpPr>
        <p:spPr>
          <a:xfrm>
            <a:off x="3584983" y="3243789"/>
            <a:ext cx="5022034" cy="3704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wrap="square" lIns="0" tIns="10160" rIns="0" bIns="0" rtlCol="0">
            <a:spAutoFit/>
          </a:bodyPr>
          <a:lstStyle/>
          <a:p>
            <a:pPr marL="476884" marR="239395" indent="-228600" algn="ctr">
              <a:lnSpc>
                <a:spcPts val="2880"/>
              </a:lnSpc>
              <a:spcBef>
                <a:spcPts val="80"/>
              </a:spcBef>
            </a:pPr>
            <a:endParaRPr lang="es-ES" sz="2400" u="sng" dirty="0">
              <a:solidFill>
                <a:srgbClr val="FFFFFF"/>
              </a:solidFill>
              <a:latin typeface="Calibri" panose="020F0502020204030204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46214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5240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3">
            <a:extLst>
              <a:ext uri="{FF2B5EF4-FFF2-40B4-BE49-F238E27FC236}">
                <a16:creationId xmlns:a16="http://schemas.microsoft.com/office/drawing/2014/main" id="{CC7B89A7-A484-4E1E-BCB8-759EB5BC9F64}"/>
              </a:ext>
            </a:extLst>
          </p:cNvPr>
          <p:cNvSpPr/>
          <p:nvPr/>
        </p:nvSpPr>
        <p:spPr>
          <a:xfrm>
            <a:off x="6104635" y="1778000"/>
            <a:ext cx="5031678" cy="30960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MEBOG">
            <a:extLst>
              <a:ext uri="{FF2B5EF4-FFF2-40B4-BE49-F238E27FC236}">
                <a16:creationId xmlns:a16="http://schemas.microsoft.com/office/drawing/2014/main" id="{B7948871-7088-40DD-87EF-3EEA24F80741}"/>
              </a:ext>
            </a:extLst>
          </p:cNvPr>
          <p:cNvSpPr/>
          <p:nvPr/>
        </p:nvSpPr>
        <p:spPr>
          <a:xfrm>
            <a:off x="1330324" y="5689090"/>
            <a:ext cx="1243797" cy="43088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MX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MEBOG: </a:t>
            </a:r>
          </a:p>
        </p:txBody>
      </p:sp>
      <p:sp>
        <p:nvSpPr>
          <p:cNvPr id="4" name="BOMBEROS">
            <a:extLst>
              <a:ext uri="{FF2B5EF4-FFF2-40B4-BE49-F238E27FC236}">
                <a16:creationId xmlns:a16="http://schemas.microsoft.com/office/drawing/2014/main" id="{3634355A-782F-4057-9BAB-ADC1FABE7C79}"/>
              </a:ext>
            </a:extLst>
          </p:cNvPr>
          <p:cNvSpPr/>
          <p:nvPr/>
        </p:nvSpPr>
        <p:spPr>
          <a:xfrm>
            <a:off x="1330324" y="5258203"/>
            <a:ext cx="1243797" cy="43088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MX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BOMBEROS: </a:t>
            </a:r>
          </a:p>
        </p:txBody>
      </p:sp>
      <p:sp>
        <p:nvSpPr>
          <p:cNvPr id="5" name="IDIGER">
            <a:extLst>
              <a:ext uri="{FF2B5EF4-FFF2-40B4-BE49-F238E27FC236}">
                <a16:creationId xmlns:a16="http://schemas.microsoft.com/office/drawing/2014/main" id="{FE872EA5-C9A8-4551-9AD7-334483609113}"/>
              </a:ext>
            </a:extLst>
          </p:cNvPr>
          <p:cNvSpPr/>
          <p:nvPr/>
        </p:nvSpPr>
        <p:spPr>
          <a:xfrm>
            <a:off x="1330324" y="4801958"/>
            <a:ext cx="1249914" cy="43088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MX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IDIGER: </a:t>
            </a:r>
          </a:p>
        </p:txBody>
      </p:sp>
      <p:sp>
        <p:nvSpPr>
          <p:cNvPr id="6" name="MOVILIDAD">
            <a:extLst>
              <a:ext uri="{FF2B5EF4-FFF2-40B4-BE49-F238E27FC236}">
                <a16:creationId xmlns:a16="http://schemas.microsoft.com/office/drawing/2014/main" id="{0C281131-28F7-40B9-8EDF-1EEA314D4B81}"/>
              </a:ext>
            </a:extLst>
          </p:cNvPr>
          <p:cNvSpPr/>
          <p:nvPr/>
        </p:nvSpPr>
        <p:spPr>
          <a:xfrm>
            <a:off x="1330325" y="4366914"/>
            <a:ext cx="12499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MX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MOVILIDAD: </a:t>
            </a:r>
          </a:p>
        </p:txBody>
      </p:sp>
      <p:sp>
        <p:nvSpPr>
          <p:cNvPr id="7" name="CRUE">
            <a:extLst>
              <a:ext uri="{FF2B5EF4-FFF2-40B4-BE49-F238E27FC236}">
                <a16:creationId xmlns:a16="http://schemas.microsoft.com/office/drawing/2014/main" id="{9EB834A4-8733-4B75-A1F6-FB9E57BDF7AD}"/>
              </a:ext>
            </a:extLst>
          </p:cNvPr>
          <p:cNvSpPr/>
          <p:nvPr/>
        </p:nvSpPr>
        <p:spPr>
          <a:xfrm>
            <a:off x="1330325" y="3936027"/>
            <a:ext cx="12499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MX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CRUE: </a:t>
            </a:r>
          </a:p>
        </p:txBody>
      </p:sp>
      <p:sp>
        <p:nvSpPr>
          <p:cNvPr id="8" name="SUR">
            <a:extLst>
              <a:ext uri="{FF2B5EF4-FFF2-40B4-BE49-F238E27FC236}">
                <a16:creationId xmlns:a16="http://schemas.microsoft.com/office/drawing/2014/main" id="{78AAD3F7-948A-469A-BA42-702FEEBCD2F7}"/>
              </a:ext>
            </a:extLst>
          </p:cNvPr>
          <p:cNvSpPr/>
          <p:nvPr/>
        </p:nvSpPr>
        <p:spPr>
          <a:xfrm>
            <a:off x="1330324" y="3513932"/>
            <a:ext cx="123988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ES" altLang="zh-TW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SUR:</a:t>
            </a:r>
            <a:endParaRPr lang="es-MX" sz="1600" dirty="0">
              <a:solidFill>
                <a:srgbClr val="7E7E7E"/>
              </a:solidFill>
              <a:latin typeface="Calibri" panose="020F0502020204030204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76560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4">
            <a:extLst>
              <a:ext uri="{FF2B5EF4-FFF2-40B4-BE49-F238E27FC236}">
                <a16:creationId xmlns:a16="http://schemas.microsoft.com/office/drawing/2014/main" id="{18C62186-E1C7-46C8-8C9F-F48B9820CD4E}"/>
              </a:ext>
            </a:extLst>
          </p:cNvPr>
          <p:cNvSpPr/>
          <p:nvPr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59012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5">
            <a:extLst>
              <a:ext uri="{FF2B5EF4-FFF2-40B4-BE49-F238E27FC236}">
                <a16:creationId xmlns:a16="http://schemas.microsoft.com/office/drawing/2014/main" id="{BC2A07EA-7B31-48E7-9643-CB8DAB18CB42}"/>
              </a:ext>
            </a:extLst>
          </p:cNvPr>
          <p:cNvSpPr/>
          <p:nvPr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14843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6">
            <a:extLst>
              <a:ext uri="{FF2B5EF4-FFF2-40B4-BE49-F238E27FC236}">
                <a16:creationId xmlns:a16="http://schemas.microsoft.com/office/drawing/2014/main" id="{61FF70FA-279C-4A42-9485-D809B8AD311F}"/>
              </a:ext>
            </a:extLst>
          </p:cNvPr>
          <p:cNvSpPr/>
          <p:nvPr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37618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mgMarco-D7">
            <a:extLst>
              <a:ext uri="{FF2B5EF4-FFF2-40B4-BE49-F238E27FC236}">
                <a16:creationId xmlns:a16="http://schemas.microsoft.com/office/drawing/2014/main" id="{743FADF2-343F-4582-82E2-B7749D40BACA}"/>
              </a:ext>
            </a:extLst>
          </p:cNvPr>
          <p:cNvSpPr/>
          <p:nvPr/>
        </p:nvSpPr>
        <p:spPr>
          <a:xfrm>
            <a:off x="1055687" y="1149791"/>
            <a:ext cx="5638411" cy="454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txt-D7">
            <a:extLst>
              <a:ext uri="{FF2B5EF4-FFF2-40B4-BE49-F238E27FC236}">
                <a16:creationId xmlns:a16="http://schemas.microsoft.com/office/drawing/2014/main" id="{AD3A8A23-7FD7-444A-A8A2-2D9F40C8630D}"/>
              </a:ext>
            </a:extLst>
          </p:cNvPr>
          <p:cNvSpPr txBox="1"/>
          <p:nvPr/>
        </p:nvSpPr>
        <p:spPr>
          <a:xfrm>
            <a:off x="6708619" y="1015998"/>
            <a:ext cx="43275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MX" sz="1600" dirty="0">
              <a:solidFill>
                <a:srgbClr val="7E7E7E"/>
              </a:solidFill>
              <a:latin typeface="+mn-l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85212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7-1">
            <a:extLst>
              <a:ext uri="{FF2B5EF4-FFF2-40B4-BE49-F238E27FC236}">
                <a16:creationId xmlns:a16="http://schemas.microsoft.com/office/drawing/2014/main" id="{B896ABC9-C76D-453E-8B55-F8B608C627E0}"/>
              </a:ext>
            </a:extLst>
          </p:cNvPr>
          <p:cNvSpPr/>
          <p:nvPr/>
        </p:nvSpPr>
        <p:spPr>
          <a:xfrm>
            <a:off x="839787" y="1698150"/>
            <a:ext cx="6264276" cy="34617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txt-D7-1">
            <a:extLst>
              <a:ext uri="{FF2B5EF4-FFF2-40B4-BE49-F238E27FC236}">
                <a16:creationId xmlns:a16="http://schemas.microsoft.com/office/drawing/2014/main" id="{A9F9E5F1-6033-4A8E-8834-9C096F31D267}"/>
              </a:ext>
            </a:extLst>
          </p:cNvPr>
          <p:cNvSpPr txBox="1"/>
          <p:nvPr/>
        </p:nvSpPr>
        <p:spPr>
          <a:xfrm>
            <a:off x="7246834" y="1281216"/>
            <a:ext cx="3997430" cy="34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endParaRPr lang="es-MX" sz="1600" dirty="0">
              <a:solidFill>
                <a:srgbClr val="7E7E7E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36551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gMarco-D8">
            <a:extLst>
              <a:ext uri="{FF2B5EF4-FFF2-40B4-BE49-F238E27FC236}">
                <a16:creationId xmlns:a16="http://schemas.microsoft.com/office/drawing/2014/main" id="{153A2588-4167-413E-97A8-F8A0F3894319}"/>
              </a:ext>
            </a:extLst>
          </p:cNvPr>
          <p:cNvSpPr/>
          <p:nvPr/>
        </p:nvSpPr>
        <p:spPr>
          <a:xfrm>
            <a:off x="1261586" y="2573265"/>
            <a:ext cx="9668828" cy="171147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3414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9-1">
            <a:extLst>
              <a:ext uri="{FF2B5EF4-FFF2-40B4-BE49-F238E27FC236}">
                <a16:creationId xmlns:a16="http://schemas.microsoft.com/office/drawing/2014/main" id="{5287EAEF-99AE-451F-A465-D7204DEE194C}"/>
              </a:ext>
            </a:extLst>
          </p:cNvPr>
          <p:cNvSpPr/>
          <p:nvPr/>
        </p:nvSpPr>
        <p:spPr>
          <a:xfrm>
            <a:off x="1198685" y="1436460"/>
            <a:ext cx="547357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imgMarco-D9-2">
            <a:extLst>
              <a:ext uri="{FF2B5EF4-FFF2-40B4-BE49-F238E27FC236}">
                <a16:creationId xmlns:a16="http://schemas.microsoft.com/office/drawing/2014/main" id="{5A6ADD38-83C8-4635-8F6E-6E1FA38A895C}"/>
              </a:ext>
            </a:extLst>
          </p:cNvPr>
          <p:cNvSpPr/>
          <p:nvPr/>
        </p:nvSpPr>
        <p:spPr>
          <a:xfrm>
            <a:off x="6735777" y="1988910"/>
            <a:ext cx="4400535" cy="34326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27413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0">
            <a:extLst>
              <a:ext uri="{FF2B5EF4-FFF2-40B4-BE49-F238E27FC236}">
                <a16:creationId xmlns:a16="http://schemas.microsoft.com/office/drawing/2014/main" id="{CD6AD645-B217-4085-8F1C-F1C24416020A}"/>
              </a:ext>
            </a:extLst>
          </p:cNvPr>
          <p:cNvSpPr/>
          <p:nvPr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05693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1">
            <a:extLst>
              <a:ext uri="{FF2B5EF4-FFF2-40B4-BE49-F238E27FC236}">
                <a16:creationId xmlns:a16="http://schemas.microsoft.com/office/drawing/2014/main" id="{0028E484-6A61-4581-8E91-5BA1557DD61C}"/>
              </a:ext>
            </a:extLst>
          </p:cNvPr>
          <p:cNvSpPr/>
          <p:nvPr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95046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2">
            <a:extLst>
              <a:ext uri="{FF2B5EF4-FFF2-40B4-BE49-F238E27FC236}">
                <a16:creationId xmlns:a16="http://schemas.microsoft.com/office/drawing/2014/main" id="{DE88FB30-11FF-4DE7-89BD-30EFC1440BAE}"/>
              </a:ext>
            </a:extLst>
          </p:cNvPr>
          <p:cNvSpPr/>
          <p:nvPr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51837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3">
            <a:extLst>
              <a:ext uri="{FF2B5EF4-FFF2-40B4-BE49-F238E27FC236}">
                <a16:creationId xmlns:a16="http://schemas.microsoft.com/office/drawing/2014/main" id="{4F3BB363-C79D-4CF3-8559-8673CCB5F540}"/>
              </a:ext>
            </a:extLst>
          </p:cNvPr>
          <p:cNvSpPr/>
          <p:nvPr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1189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4">
            <a:extLst>
              <a:ext uri="{FF2B5EF4-FFF2-40B4-BE49-F238E27FC236}">
                <a16:creationId xmlns:a16="http://schemas.microsoft.com/office/drawing/2014/main" id="{79935A0F-C562-475E-8FC1-187B3DC424F1}"/>
              </a:ext>
            </a:extLst>
          </p:cNvPr>
          <p:cNvSpPr/>
          <p:nvPr/>
        </p:nvSpPr>
        <p:spPr>
          <a:xfrm>
            <a:off x="3231154" y="1896427"/>
            <a:ext cx="5729692" cy="306514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27198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5">
            <a:extLst>
              <a:ext uri="{FF2B5EF4-FFF2-40B4-BE49-F238E27FC236}">
                <a16:creationId xmlns:a16="http://schemas.microsoft.com/office/drawing/2014/main" id="{2287E631-9841-4862-A915-AC48BF8D5D42}"/>
              </a:ext>
            </a:extLst>
          </p:cNvPr>
          <p:cNvSpPr/>
          <p:nvPr/>
        </p:nvSpPr>
        <p:spPr>
          <a:xfrm>
            <a:off x="1572285" y="1625286"/>
            <a:ext cx="9047430" cy="415987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19492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6-1">
            <a:extLst>
              <a:ext uri="{FF2B5EF4-FFF2-40B4-BE49-F238E27FC236}">
                <a16:creationId xmlns:a16="http://schemas.microsoft.com/office/drawing/2014/main" id="{01A30E5F-1437-4823-98A3-304E4F41E9E8}"/>
              </a:ext>
            </a:extLst>
          </p:cNvPr>
          <p:cNvSpPr/>
          <p:nvPr/>
        </p:nvSpPr>
        <p:spPr>
          <a:xfrm>
            <a:off x="1055687" y="1334820"/>
            <a:ext cx="10080625" cy="200976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imgMarco-D16-2">
            <a:extLst>
              <a:ext uri="{FF2B5EF4-FFF2-40B4-BE49-F238E27FC236}">
                <a16:creationId xmlns:a16="http://schemas.microsoft.com/office/drawing/2014/main" id="{EA9A64EB-2FE7-41CE-B85D-A99A37ADEC77}"/>
              </a:ext>
            </a:extLst>
          </p:cNvPr>
          <p:cNvSpPr/>
          <p:nvPr/>
        </p:nvSpPr>
        <p:spPr>
          <a:xfrm>
            <a:off x="4403726" y="3747458"/>
            <a:ext cx="3384550" cy="225097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txt-D16-2">
            <a:extLst>
              <a:ext uri="{FF2B5EF4-FFF2-40B4-BE49-F238E27FC236}">
                <a16:creationId xmlns:a16="http://schemas.microsoft.com/office/drawing/2014/main" id="{615E12AC-5EF7-4DE2-B2D1-2E1B152AF345}"/>
              </a:ext>
            </a:extLst>
          </p:cNvPr>
          <p:cNvSpPr/>
          <p:nvPr/>
        </p:nvSpPr>
        <p:spPr>
          <a:xfrm>
            <a:off x="1524000" y="5983467"/>
            <a:ext cx="9144001" cy="33855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370205" algn="ctr">
              <a:lnSpc>
                <a:spcPct val="100000"/>
              </a:lnSpc>
              <a:spcBef>
                <a:spcPts val="80"/>
              </a:spcBef>
            </a:pP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endParaRPr lang="es-ES" sz="1600" dirty="0">
              <a:latin typeface="+mn-lt"/>
              <a:cs typeface="Calibri"/>
            </a:endParaRPr>
          </a:p>
        </p:txBody>
      </p:sp>
      <p:sp>
        <p:nvSpPr>
          <p:cNvPr id="6" name="txt-D16-1">
            <a:extLst>
              <a:ext uri="{FF2B5EF4-FFF2-40B4-BE49-F238E27FC236}">
                <a16:creationId xmlns:a16="http://schemas.microsoft.com/office/drawing/2014/main" id="{85AB65EC-624A-4E20-8BC0-2B67921318B7}"/>
              </a:ext>
            </a:extLst>
          </p:cNvPr>
          <p:cNvSpPr txBox="1"/>
          <p:nvPr/>
        </p:nvSpPr>
        <p:spPr>
          <a:xfrm>
            <a:off x="2033955" y="3435477"/>
            <a:ext cx="8124091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ES" sz="1600" spc="-1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endParaRPr lang="es-ES" sz="1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6610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7-1">
            <a:extLst>
              <a:ext uri="{FF2B5EF4-FFF2-40B4-BE49-F238E27FC236}">
                <a16:creationId xmlns:a16="http://schemas.microsoft.com/office/drawing/2014/main" id="{04EF82CF-4068-4CD8-A7FF-C80FC3347342}"/>
              </a:ext>
            </a:extLst>
          </p:cNvPr>
          <p:cNvSpPr/>
          <p:nvPr/>
        </p:nvSpPr>
        <p:spPr>
          <a:xfrm>
            <a:off x="1071085" y="1436460"/>
            <a:ext cx="7129951" cy="20877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imgMarco-D17-2">
            <a:extLst>
              <a:ext uri="{FF2B5EF4-FFF2-40B4-BE49-F238E27FC236}">
                <a16:creationId xmlns:a16="http://schemas.microsoft.com/office/drawing/2014/main" id="{4F556139-F46E-4769-914C-87C2317D4C9C}"/>
              </a:ext>
            </a:extLst>
          </p:cNvPr>
          <p:cNvSpPr/>
          <p:nvPr/>
        </p:nvSpPr>
        <p:spPr>
          <a:xfrm>
            <a:off x="1055689" y="4056423"/>
            <a:ext cx="7129950" cy="20877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361071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8">
            <a:extLst>
              <a:ext uri="{FF2B5EF4-FFF2-40B4-BE49-F238E27FC236}">
                <a16:creationId xmlns:a16="http://schemas.microsoft.com/office/drawing/2014/main" id="{F0FC6F59-7136-4BE0-8B3A-6CA367511EAB}"/>
              </a:ext>
            </a:extLst>
          </p:cNvPr>
          <p:cNvSpPr/>
          <p:nvPr/>
        </p:nvSpPr>
        <p:spPr>
          <a:xfrm>
            <a:off x="3886199" y="1779715"/>
            <a:ext cx="4419602" cy="31818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53587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9">
            <a:extLst>
              <a:ext uri="{FF2B5EF4-FFF2-40B4-BE49-F238E27FC236}">
                <a16:creationId xmlns:a16="http://schemas.microsoft.com/office/drawing/2014/main" id="{D8010744-E805-4102-9DC5-C3A78FDB286F}"/>
              </a:ext>
            </a:extLst>
          </p:cNvPr>
          <p:cNvSpPr/>
          <p:nvPr/>
        </p:nvSpPr>
        <p:spPr>
          <a:xfrm>
            <a:off x="2380426" y="1708493"/>
            <a:ext cx="7433530" cy="398613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290784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0">
            <a:extLst>
              <a:ext uri="{FF2B5EF4-FFF2-40B4-BE49-F238E27FC236}">
                <a16:creationId xmlns:a16="http://schemas.microsoft.com/office/drawing/2014/main" id="{4987C106-B470-4050-9636-37C509873E46}"/>
              </a:ext>
            </a:extLst>
          </p:cNvPr>
          <p:cNvSpPr/>
          <p:nvPr/>
        </p:nvSpPr>
        <p:spPr>
          <a:xfrm>
            <a:off x="4089149" y="2374440"/>
            <a:ext cx="4013702" cy="315931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152749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1">
            <a:extLst>
              <a:ext uri="{FF2B5EF4-FFF2-40B4-BE49-F238E27FC236}">
                <a16:creationId xmlns:a16="http://schemas.microsoft.com/office/drawing/2014/main" id="{465898D6-D4F9-4CF2-95C5-788600A6F925}"/>
              </a:ext>
            </a:extLst>
          </p:cNvPr>
          <p:cNvSpPr/>
          <p:nvPr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22947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2">
            <a:extLst>
              <a:ext uri="{FF2B5EF4-FFF2-40B4-BE49-F238E27FC236}">
                <a16:creationId xmlns:a16="http://schemas.microsoft.com/office/drawing/2014/main" id="{76649B03-67B1-4161-B021-44C2713FF3F9}"/>
              </a:ext>
            </a:extLst>
          </p:cNvPr>
          <p:cNvSpPr/>
          <p:nvPr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141503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3">
            <a:extLst>
              <a:ext uri="{FF2B5EF4-FFF2-40B4-BE49-F238E27FC236}">
                <a16:creationId xmlns:a16="http://schemas.microsoft.com/office/drawing/2014/main" id="{FFF7F94C-2295-4923-BEB7-5618A5450E21}"/>
              </a:ext>
            </a:extLst>
          </p:cNvPr>
          <p:cNvSpPr/>
          <p:nvPr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80523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4">
            <a:extLst>
              <a:ext uri="{FF2B5EF4-FFF2-40B4-BE49-F238E27FC236}">
                <a16:creationId xmlns:a16="http://schemas.microsoft.com/office/drawing/2014/main" id="{ABB84856-CEEF-499F-8FA6-FA35AC5A94D9}"/>
              </a:ext>
            </a:extLst>
          </p:cNvPr>
          <p:cNvSpPr/>
          <p:nvPr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283708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5">
            <a:extLst>
              <a:ext uri="{FF2B5EF4-FFF2-40B4-BE49-F238E27FC236}">
                <a16:creationId xmlns:a16="http://schemas.microsoft.com/office/drawing/2014/main" id="{E0D170BE-AB4B-4C71-B5FC-3E2670E2B7D8}"/>
              </a:ext>
            </a:extLst>
          </p:cNvPr>
          <p:cNvSpPr/>
          <p:nvPr/>
        </p:nvSpPr>
        <p:spPr>
          <a:xfrm>
            <a:off x="1177619" y="2595764"/>
            <a:ext cx="9839144" cy="166647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84208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D26">
            <a:extLst>
              <a:ext uri="{FF2B5EF4-FFF2-40B4-BE49-F238E27FC236}">
                <a16:creationId xmlns:a16="http://schemas.microsoft.com/office/drawing/2014/main" id="{1AC9B5FB-6F34-42A6-8180-00EA363E0B77}"/>
              </a:ext>
            </a:extLst>
          </p:cNvPr>
          <p:cNvSpPr/>
          <p:nvPr/>
        </p:nvSpPr>
        <p:spPr>
          <a:xfrm>
            <a:off x="1062952" y="1315946"/>
            <a:ext cx="50330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833611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93369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583337"/>
      </p:ext>
    </p:extLst>
  </p:cSld>
  <p:clrMapOvr>
    <a:masterClrMapping/>
  </p:clrMapOvr>
</p:sld>
</file>

<file path=ppt/theme/theme1.xml><?xml version="1.0" encoding="utf-8"?>
<a:theme xmlns:a="http://schemas.openxmlformats.org/drawingml/2006/main" name="Portada (Fondo A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1232</TotalTime>
  <Words>14</Words>
  <Application>Microsoft Office PowerPoint</Application>
  <PresentationFormat>Panorámica</PresentationFormat>
  <Paragraphs>8</Paragraphs>
  <Slides>29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5" baseType="lpstr">
      <vt:lpstr>新細明體</vt:lpstr>
      <vt:lpstr>Arial</vt:lpstr>
      <vt:lpstr>Calibri</vt:lpstr>
      <vt:lpstr>Calibri Light</vt:lpstr>
      <vt:lpstr>Cambria</vt:lpstr>
      <vt:lpstr>Portada (Fondo A)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Alvaro Rojas Rincon</dc:creator>
  <cp:lastModifiedBy>Luis Alvaro Rojas Rincon</cp:lastModifiedBy>
  <cp:revision>309</cp:revision>
  <dcterms:created xsi:type="dcterms:W3CDTF">2026-02-18T16:16:02Z</dcterms:created>
  <dcterms:modified xsi:type="dcterms:W3CDTF">2026-07-30T18:31:46Z</dcterms:modified>
</cp:coreProperties>
</file>