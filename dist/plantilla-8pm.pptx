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2" r:id="rId28"/>
    <p:sldId id="281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E7E"/>
    <a:srgbClr val="1B5FA7"/>
    <a:srgbClr val="1F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340" autoAdjust="0"/>
  </p:normalViewPr>
  <p:slideViewPr>
    <p:cSldViewPr snapToGrid="0">
      <p:cViewPr varScale="1">
        <p:scale>
          <a:sx n="106" d="100"/>
          <a:sy n="106" d="100"/>
        </p:scale>
        <p:origin x="1044" y="96"/>
      </p:cViewPr>
      <p:guideLst>
        <p:guide pos="3840"/>
        <p:guide pos="66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1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CE6B51B-1831-481E-AF61-9F67A90906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F06CD-50EE-4DAF-AD3E-0F1FFCF31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855BB-C5D2-4F82-B71B-CB3B65D6AB2E}" type="datetimeFigureOut">
              <a:rPr lang="es-ES" smtClean="0"/>
              <a:t>11/03/2026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FC951-A027-492A-9F1A-6D9C04073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681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>
            <a:extLst>
              <a:ext uri="{FF2B5EF4-FFF2-40B4-BE49-F238E27FC236}">
                <a16:creationId xmlns:a16="http://schemas.microsoft.com/office/drawing/2014/main" id="{11F865FE-5386-4787-95C7-B13A153E4858}"/>
              </a:ext>
            </a:extLst>
          </p:cNvPr>
          <p:cNvSpPr txBox="1"/>
          <p:nvPr userDrawn="1"/>
        </p:nvSpPr>
        <p:spPr>
          <a:xfrm>
            <a:off x="3795395" y="3337106"/>
            <a:ext cx="4601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VP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CIUDADES</a:t>
            </a:r>
            <a:r>
              <a:rPr sz="2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INTELIGENTES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4EF84D-A7D9-4701-A250-70DB0353FE8E}"/>
              </a:ext>
            </a:extLst>
          </p:cNvPr>
          <p:cNvSpPr/>
          <p:nvPr userDrawn="1"/>
        </p:nvSpPr>
        <p:spPr>
          <a:xfrm>
            <a:off x="2598985" y="197998"/>
            <a:ext cx="6994031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LÍNEA</a:t>
            </a:r>
            <a:r>
              <a:rPr lang="es-ES" sz="4400" b="1" spc="240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DE</a:t>
            </a:r>
            <a:r>
              <a:rPr lang="es-ES" sz="4400" b="1" spc="229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45" dirty="0">
                <a:solidFill>
                  <a:srgbClr val="00F4FA"/>
                </a:solidFill>
                <a:latin typeface="+mn-lt"/>
                <a:cs typeface="Calibri"/>
              </a:rPr>
              <a:t>EMERGENCIAS</a:t>
            </a:r>
            <a:r>
              <a:rPr lang="es-ES" sz="4400" b="1" spc="235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-25" dirty="0">
                <a:solidFill>
                  <a:srgbClr val="00F4FA"/>
                </a:solidFill>
                <a:latin typeface="+mn-lt"/>
                <a:cs typeface="Calibri"/>
              </a:rPr>
              <a:t>123</a:t>
            </a:r>
            <a:endParaRPr lang="es-ES" sz="4400" dirty="0"/>
          </a:p>
        </p:txBody>
      </p:sp>
      <p:pic>
        <p:nvPicPr>
          <p:cNvPr id="3" name="Img-LogoETB-D1">
            <a:extLst>
              <a:ext uri="{FF2B5EF4-FFF2-40B4-BE49-F238E27FC236}">
                <a16:creationId xmlns:a16="http://schemas.microsoft.com/office/drawing/2014/main" id="{F6AFC7A0-4722-49BA-AD18-9E0F984B2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299539"/>
            <a:ext cx="615749" cy="463336"/>
          </a:xfrm>
          <a:prstGeom prst="rect">
            <a:avLst/>
          </a:prstGeom>
        </p:spPr>
      </p:pic>
      <p:sp>
        <p:nvSpPr>
          <p:cNvPr id="6" name="txtFecha">
            <a:extLst>
              <a:ext uri="{FF2B5EF4-FFF2-40B4-BE49-F238E27FC236}">
                <a16:creationId xmlns:a16="http://schemas.microsoft.com/office/drawing/2014/main" id="{0110F041-28C8-431A-8FE7-EEF2D49B68F3}"/>
              </a:ext>
            </a:extLst>
          </p:cNvPr>
          <p:cNvSpPr txBox="1"/>
          <p:nvPr userDrawn="1"/>
        </p:nvSpPr>
        <p:spPr>
          <a:xfrm>
            <a:off x="3712496" y="4085150"/>
            <a:ext cx="5022034" cy="7551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0480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e-Txt">
            <a:extLst>
              <a:ext uri="{FF2B5EF4-FFF2-40B4-BE49-F238E27FC236}">
                <a16:creationId xmlns:a16="http://schemas.microsoft.com/office/drawing/2014/main" id="{9510C7B8-E3F4-4ED9-A693-30B7EE5392F2}"/>
              </a:ext>
            </a:extLst>
          </p:cNvPr>
          <p:cNvSpPr txBox="1"/>
          <p:nvPr userDrawn="1"/>
        </p:nvSpPr>
        <p:spPr>
          <a:xfrm>
            <a:off x="1105850" y="605286"/>
            <a:ext cx="3571240" cy="5694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49250" algn="l"/>
              </a:tabLst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1.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	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operación</a:t>
            </a:r>
            <a:endParaRPr sz="1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0"/>
              </a:spcBef>
              <a:buClr>
                <a:srgbClr val="006EC0"/>
              </a:buClr>
              <a:buSzPct val="104545"/>
              <a:buAutoNum type="romanUcPeriod"/>
              <a:tabLst>
                <a:tab pos="527685" algn="l"/>
              </a:tabLst>
            </a:pPr>
            <a:r>
              <a:rPr sz="1100" spc="-35" dirty="0" err="1">
                <a:solidFill>
                  <a:srgbClr val="042855"/>
                </a:solidFill>
                <a:latin typeface="Calibri"/>
                <a:cs typeface="Calibri"/>
              </a:rPr>
              <a:t>Seguimientopreventivo</a:t>
            </a:r>
            <a:r>
              <a:rPr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42855"/>
                </a:solidFill>
                <a:latin typeface="Calibri"/>
                <a:cs typeface="Calibri"/>
              </a:rPr>
              <a:t>Mesa</a:t>
            </a:r>
            <a:r>
              <a:rPr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1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042855"/>
                </a:solidFill>
                <a:latin typeface="Calibri"/>
                <a:cs typeface="Calibri"/>
              </a:rPr>
              <a:t>Servicio</a:t>
            </a: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740"/>
              </a:spcBef>
            </a:pPr>
            <a:r>
              <a:rPr sz="1150" spc="-25" dirty="0">
                <a:solidFill>
                  <a:srgbClr val="006EC0"/>
                </a:solidFill>
                <a:latin typeface="Calibri"/>
                <a:cs typeface="Calibri"/>
              </a:rPr>
              <a:t>I</a:t>
            </a:r>
            <a:r>
              <a:rPr lang="es-ES" sz="1150" spc="-25" dirty="0">
                <a:solidFill>
                  <a:srgbClr val="006EC0"/>
                </a:solidFill>
                <a:latin typeface="Calibri"/>
                <a:cs typeface="Calibri"/>
              </a:rPr>
              <a:t>I.              </a:t>
            </a:r>
            <a:r>
              <a:rPr lang="es-ES" sz="1100" spc="-30" dirty="0" err="1">
                <a:solidFill>
                  <a:srgbClr val="042855"/>
                </a:solidFill>
                <a:latin typeface="Calibri"/>
                <a:cs typeface="Calibri"/>
              </a:rPr>
              <a:t>Confirmacionesen</a:t>
            </a:r>
            <a:r>
              <a:rPr lang="es-ES" sz="11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5" dirty="0">
                <a:solidFill>
                  <a:srgbClr val="042855"/>
                </a:solidFill>
                <a:latin typeface="Calibri"/>
                <a:cs typeface="Calibri"/>
              </a:rPr>
              <a:t>SUR</a:t>
            </a:r>
            <a:r>
              <a:rPr lang="es-ES"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Agencias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35"/>
              </a:spcBef>
            </a:pPr>
            <a:r>
              <a:rPr sz="1150" spc="-20" dirty="0">
                <a:solidFill>
                  <a:srgbClr val="006EC0"/>
                </a:solidFill>
                <a:latin typeface="Calibri"/>
                <a:cs typeface="Calibri"/>
              </a:rPr>
              <a:t>III.</a:t>
            </a:r>
            <a:r>
              <a:rPr lang="es-ES" sz="1150" spc="-20" dirty="0">
                <a:solidFill>
                  <a:srgbClr val="006EC0"/>
                </a:solidFill>
                <a:latin typeface="Calibri"/>
                <a:cs typeface="Calibri"/>
              </a:rPr>
              <a:t>           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HUD</a:t>
            </a:r>
            <a:r>
              <a:rPr lang="es-ES"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0" dirty="0" err="1">
                <a:solidFill>
                  <a:srgbClr val="042855"/>
                </a:solidFill>
                <a:latin typeface="Calibri"/>
                <a:cs typeface="Calibri"/>
              </a:rPr>
              <a:t>Trámitede</a:t>
            </a:r>
            <a:r>
              <a:rPr lang="es-ES" sz="11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I.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lang="es-ES" sz="1200" spc="-55" dirty="0">
                <a:solidFill>
                  <a:srgbClr val="042855"/>
                </a:solidFill>
                <a:latin typeface="Calibri"/>
                <a:cs typeface="Calibri"/>
              </a:rPr>
              <a:t>         Disponibilidad</a:t>
            </a:r>
            <a:r>
              <a:rPr lang="es-ES"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Equipos</a:t>
            </a:r>
            <a:r>
              <a:rPr lang="es-ES" sz="12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lang="es-ES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Comunicaciones</a:t>
            </a:r>
            <a:endParaRPr sz="1200" dirty="0">
              <a:latin typeface="Calibri"/>
              <a:cs typeface="Calibri"/>
            </a:endParaRPr>
          </a:p>
          <a:p>
            <a:pPr marL="241935" lvl="1" indent="-22923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193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Reporte</a:t>
            </a:r>
            <a:r>
              <a:rPr sz="1200" spc="-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8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Seguridad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Interfaces</a:t>
            </a:r>
            <a:r>
              <a:rPr sz="12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sz="1200" spc="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VPN’s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Operación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NUSE</a:t>
            </a:r>
            <a:endParaRPr sz="1200" dirty="0">
              <a:latin typeface="Calibri"/>
              <a:cs typeface="Calibri"/>
            </a:endParaRPr>
          </a:p>
          <a:p>
            <a:pPr marL="292735" lvl="1" indent="-28003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29273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Enlaces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Fibra</a:t>
            </a:r>
            <a:r>
              <a:rPr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Oscura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3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3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Servidores</a:t>
            </a:r>
            <a:endParaRPr sz="120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2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(Información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Por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Dia)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VERINT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RedBox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790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Procesamiento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BD</a:t>
            </a:r>
            <a:r>
              <a:rPr sz="1200" spc="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Producción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PremierOne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Arquitectura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MITEL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llamadas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operador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(Duración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llamadas)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Resumen</a:t>
            </a:r>
            <a:r>
              <a:rPr sz="1200" spc="-3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llamadas</a:t>
            </a:r>
            <a:r>
              <a:rPr sz="1200" spc="-50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F808A"/>
                </a:solidFill>
                <a:latin typeface="Calibri"/>
                <a:cs typeface="Calibri"/>
              </a:rPr>
              <a:t>clasificadas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25755" lvl="1" indent="-31305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25755" algn="l"/>
              </a:tabLst>
            </a:pPr>
            <a:r>
              <a:rPr lang="es-ES" sz="1200" spc="-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 err="1">
                <a:solidFill>
                  <a:srgbClr val="042855"/>
                </a:solidFill>
                <a:latin typeface="Calibri"/>
                <a:cs typeface="Calibri"/>
              </a:rPr>
              <a:t>Consumo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internet</a:t>
            </a:r>
            <a:r>
              <a:rPr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canal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principal</a:t>
            </a:r>
            <a:r>
              <a:rPr sz="1200" spc="-8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70Megas</a:t>
            </a:r>
            <a:endParaRPr lang="es-MX" sz="1200" spc="-1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Disponibilidad</a:t>
            </a:r>
            <a:r>
              <a:rPr lang="es-MX" sz="1200" spc="-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dirty="0">
                <a:solidFill>
                  <a:srgbClr val="042855"/>
                </a:solidFill>
                <a:latin typeface="Calibri"/>
                <a:cs typeface="Calibri"/>
              </a:rPr>
              <a:t>VPN</a:t>
            </a:r>
            <a:r>
              <a:rPr lang="es-MX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spc="-10" dirty="0">
                <a:solidFill>
                  <a:srgbClr val="042855"/>
                </a:solidFill>
                <a:latin typeface="Calibri"/>
                <a:cs typeface="Calibri"/>
              </a:rPr>
              <a:t>VESTAFW_CUNI</a:t>
            </a: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Novedades</a:t>
            </a:r>
            <a:endParaRPr lang="es-MX" sz="1200" dirty="0">
              <a:latin typeface="Calibri"/>
              <a:cs typeface="Calibri"/>
            </a:endParaRPr>
          </a:p>
        </p:txBody>
      </p:sp>
      <p:sp>
        <p:nvSpPr>
          <p:cNvPr id="4" name="Indice">
            <a:extLst>
              <a:ext uri="{FF2B5EF4-FFF2-40B4-BE49-F238E27FC236}">
                <a16:creationId xmlns:a16="http://schemas.microsoft.com/office/drawing/2014/main" id="{29CACEEB-9ECB-4732-A11C-FDEFF75AA6FD}"/>
              </a:ext>
            </a:extLst>
          </p:cNvPr>
          <p:cNvSpPr/>
          <p:nvPr userDrawn="1"/>
        </p:nvSpPr>
        <p:spPr>
          <a:xfrm>
            <a:off x="5496958" y="282122"/>
            <a:ext cx="1198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INDICE</a:t>
            </a:r>
            <a:endParaRPr lang="es-ES" sz="2800" b="1" dirty="0">
              <a:solidFill>
                <a:srgbClr val="1B5FA7"/>
              </a:solidFill>
              <a:latin typeface="+mn-lt"/>
            </a:endParaRPr>
          </a:p>
        </p:txBody>
      </p:sp>
      <p:pic>
        <p:nvPicPr>
          <p:cNvPr id="5" name="Img-LogoETB-A">
            <a:extLst>
              <a:ext uri="{FF2B5EF4-FFF2-40B4-BE49-F238E27FC236}">
                <a16:creationId xmlns:a16="http://schemas.microsoft.com/office/drawing/2014/main" id="{900AAE97-B0E1-42D7-8B8E-77B8876169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6" name="SerasLoQueCreas">
            <a:extLst>
              <a:ext uri="{FF2B5EF4-FFF2-40B4-BE49-F238E27FC236}">
                <a16:creationId xmlns:a16="http://schemas.microsoft.com/office/drawing/2014/main" id="{F6F96454-D83E-45C7-A756-42EE4C40ACB9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635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UD-Tramite">
            <a:extLst>
              <a:ext uri="{FF2B5EF4-FFF2-40B4-BE49-F238E27FC236}">
                <a16:creationId xmlns:a16="http://schemas.microsoft.com/office/drawing/2014/main" id="{BB32211D-BD44-42EE-9A24-6FF365B8697F}"/>
              </a:ext>
            </a:extLst>
          </p:cNvPr>
          <p:cNvSpPr txBox="1"/>
          <p:nvPr userDrawn="1"/>
        </p:nvSpPr>
        <p:spPr>
          <a:xfrm>
            <a:off x="7200915" y="1278084"/>
            <a:ext cx="3221355" cy="300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aseline="-5555" dirty="0">
                <a:solidFill>
                  <a:srgbClr val="1B5FA7"/>
                </a:solidFill>
                <a:latin typeface="Calibri"/>
                <a:cs typeface="Calibri"/>
              </a:rPr>
              <a:t>III.</a:t>
            </a:r>
            <a:r>
              <a:rPr sz="2800" spc="247" baseline="-555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HUD</a:t>
            </a:r>
            <a:r>
              <a:rPr sz="1800" spc="-2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Trámite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Llamadas</a:t>
            </a:r>
            <a:endParaRPr sz="18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Nota-txt">
            <a:extLst>
              <a:ext uri="{FF2B5EF4-FFF2-40B4-BE49-F238E27FC236}">
                <a16:creationId xmlns:a16="http://schemas.microsoft.com/office/drawing/2014/main" id="{5651A748-9A9A-4A2C-BD51-4ED5FCC07E60}"/>
              </a:ext>
            </a:extLst>
          </p:cNvPr>
          <p:cNvSpPr txBox="1"/>
          <p:nvPr userDrawn="1"/>
        </p:nvSpPr>
        <p:spPr>
          <a:xfrm>
            <a:off x="6104635" y="5062808"/>
            <a:ext cx="503167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0" spc="-35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600" b="0" spc="-35" dirty="0">
                <a:solidFill>
                  <a:srgbClr val="1F468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 el momento sobre el tablero HUD de monitoreo se visualiza el campo Agencia MUJ, por un contrato que tiene la SCJ, Secretaria de la mujer y ETB se agregó este campo allí. Cabe resaltar que esta agencia no hace parte del convenio 561-2014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9" name="1-EstadoDeOperacion">
            <a:extLst>
              <a:ext uri="{FF2B5EF4-FFF2-40B4-BE49-F238E27FC236}">
                <a16:creationId xmlns:a16="http://schemas.microsoft.com/office/drawing/2014/main" id="{CE0E8C82-8F29-46E6-877D-BE7301E70C56}"/>
              </a:ext>
            </a:extLst>
          </p:cNvPr>
          <p:cNvSpPr txBox="1"/>
          <p:nvPr userDrawn="1"/>
        </p:nvSpPr>
        <p:spPr>
          <a:xfrm>
            <a:off x="1047750" y="413638"/>
            <a:ext cx="402745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spc="-25" dirty="0">
                <a:solidFill>
                  <a:srgbClr val="1B5FA7"/>
                </a:solidFill>
                <a:latin typeface="+mn-lt"/>
              </a:rPr>
              <a:t>1.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Estado</a:t>
            </a:r>
            <a:r>
              <a:rPr lang="es-ES" sz="2800" b="1" spc="-105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de</a:t>
            </a:r>
            <a:r>
              <a:rPr lang="es-ES" sz="2800" b="1" spc="-100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Operación</a:t>
            </a:r>
            <a:endParaRPr sz="2800" b="1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pic>
        <p:nvPicPr>
          <p:cNvPr id="3" name="Img-LogoETB-A">
            <a:extLst>
              <a:ext uri="{FF2B5EF4-FFF2-40B4-BE49-F238E27FC236}">
                <a16:creationId xmlns:a16="http://schemas.microsoft.com/office/drawing/2014/main" id="{95B4522D-05E8-48D6-9158-3834BE9B3C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732"/>
            <a:ext cx="615749" cy="463336"/>
          </a:xfrm>
          <a:prstGeom prst="rect">
            <a:avLst/>
          </a:prstGeom>
        </p:spPr>
      </p:pic>
      <p:sp>
        <p:nvSpPr>
          <p:cNvPr id="10" name="SerasLoQueCreas">
            <a:extLst>
              <a:ext uri="{FF2B5EF4-FFF2-40B4-BE49-F238E27FC236}">
                <a16:creationId xmlns:a16="http://schemas.microsoft.com/office/drawing/2014/main" id="{AAE0226C-0B5D-4818-81D0-C08E87B948DF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4" name="imgMarco-D3">
            <a:extLst>
              <a:ext uri="{FF2B5EF4-FFF2-40B4-BE49-F238E27FC236}">
                <a16:creationId xmlns:a16="http://schemas.microsoft.com/office/drawing/2014/main" id="{4C1C106A-42F9-4251-B413-954096BB77B3}"/>
              </a:ext>
            </a:extLst>
          </p:cNvPr>
          <p:cNvSpPr/>
          <p:nvPr userDrawn="1"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guimientoPreventivo-txt">
            <a:extLst>
              <a:ext uri="{FF2B5EF4-FFF2-40B4-BE49-F238E27FC236}">
                <a16:creationId xmlns:a16="http://schemas.microsoft.com/office/drawing/2014/main" id="{705D4A5E-5F23-4361-8988-8D9BB902370D}"/>
              </a:ext>
            </a:extLst>
          </p:cNvPr>
          <p:cNvSpPr txBox="1"/>
          <p:nvPr userDrawn="1"/>
        </p:nvSpPr>
        <p:spPr>
          <a:xfrm>
            <a:off x="1055688" y="1305936"/>
            <a:ext cx="4922418" cy="231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Seguimiento preventivo Mesa de Servicio</a:t>
            </a: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A corte de las 20:00, se realiza seguimiento, confirmando con los supervisores completa operatividad en SUR, CAD,  CRUE, Movilidad, IDIGER y Bomberos, a la hora las agencias laboran con normalidad.</a:t>
            </a:r>
          </a:p>
          <a:p>
            <a:pPr marL="12700" indent="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None/>
              <a:tabLst>
                <a:tab pos="195580" algn="l"/>
              </a:tabLst>
            </a:pPr>
            <a:endParaRPr lang="es-MX" sz="1600" b="1" spc="-35" dirty="0">
              <a:solidFill>
                <a:srgbClr val="1F4680"/>
              </a:solidFill>
              <a:latin typeface="+mn-lt"/>
              <a:cs typeface="Calibri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7E7E7E"/>
              </a:buClr>
              <a:buSzTx/>
              <a:buFont typeface="Calibri"/>
              <a:buAutoNum type="romanUcPeriod"/>
              <a:tabLst>
                <a:tab pos="195580" algn="l"/>
              </a:tabLst>
              <a:defRPr/>
            </a:pP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   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Confirmaciones en SUR y Agencias</a:t>
            </a:r>
          </a:p>
        </p:txBody>
      </p:sp>
    </p:spTree>
    <p:extLst>
      <p:ext uri="{BB962C8B-B14F-4D97-AF65-F5344CB8AC3E}">
        <p14:creationId xmlns:p14="http://schemas.microsoft.com/office/powerpoint/2010/main" val="34525720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orient="horz" pos="958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witches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270500" y="1023664"/>
            <a:ext cx="165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B5FA7"/>
                </a:solidFill>
                <a:latin typeface="Calibri"/>
                <a:cs typeface="Calibri"/>
              </a:rPr>
              <a:t>Switches</a:t>
            </a:r>
            <a:r>
              <a:rPr sz="2000" spc="-1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B5FA7"/>
                </a:solidFill>
                <a:latin typeface="Calibri"/>
                <a:cs typeface="Calibri"/>
              </a:rPr>
              <a:t>VESTA</a:t>
            </a:r>
            <a:endParaRPr sz="20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5C5F8CE8-C4A1-4934-B71A-BABD456E21B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7870C7-EF32-4E68-A1AF-8956758473B1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CDE79501-472B-4BCF-BD26-56E7A975A4A3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5718F-76DC-4496-B793-8A250E99DA59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7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76BF848F-5E20-4420-9B19-DF600CE4C29C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7B7BC9-FFBB-4CCF-82BB-FE500DBEDAEE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4" y="384680"/>
            <a:ext cx="374396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1.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</a:t>
            </a:r>
          </a:p>
        </p:txBody>
      </p:sp>
      <p:sp>
        <p:nvSpPr>
          <p:cNvPr id="2" name="Img-SonicWall-D7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1055687" y="1078303"/>
            <a:ext cx="5836819" cy="47013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09878"/>
            <a:ext cx="30180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Capture Client - </a:t>
            </a:r>
            <a:r>
              <a:rPr lang="es-ES" sz="1600" u="none" dirty="0" err="1">
                <a:solidFill>
                  <a:srgbClr val="7E7E7E"/>
                </a:solidFill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570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ServidorRadiosAPL-D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Apl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929982" y="935744"/>
            <a:ext cx="233203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 Radios </a:t>
            </a: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APL’s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B6288B-357B-43E1-9E68-E67F373D026F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9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98684" y="1436460"/>
            <a:ext cx="5510091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teToSit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368" y="1023664"/>
            <a:ext cx="1875264" cy="225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2540" indent="-43815" algn="ctr">
              <a:lnSpc>
                <a:spcPts val="1467"/>
              </a:lnSpc>
              <a:spcBef>
                <a:spcPts val="306"/>
              </a:spcBef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VPN SITE TO SITE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img-Marco-D9-2">
            <a:extLst>
              <a:ext uri="{FF2B5EF4-FFF2-40B4-BE49-F238E27FC236}">
                <a16:creationId xmlns:a16="http://schemas.microsoft.com/office/drawing/2014/main" id="{C9A1605E-595A-4128-9CED-47C58E3C5F9F}"/>
              </a:ext>
            </a:extLst>
          </p:cNvPr>
          <p:cNvSpPr/>
          <p:nvPr userDrawn="1"/>
        </p:nvSpPr>
        <p:spPr>
          <a:xfrm>
            <a:off x="6851650" y="1436460"/>
            <a:ext cx="4141666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F8B1EC-F759-462B-9796-0B8739F01498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32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  <p15:guide id="5" pos="4316" userDrawn="1">
          <p15:clr>
            <a:srgbClr val="FBAE40"/>
          </p15:clr>
        </p15:guide>
        <p15:guide id="6" pos="422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1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adios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663819" y="935744"/>
            <a:ext cx="86436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RADIOS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E5F849-568C-4696-88BA-A212182757C6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0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154" y="935744"/>
            <a:ext cx="187569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NUSE-VESTA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22ABC5-7931-429F-94DB-ED58A6CE8A43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31036032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067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848225" y="935744"/>
            <a:ext cx="24955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Servidores</a:t>
            </a:r>
            <a:r>
              <a:rPr lang="es-ES" sz="2000" spc="-7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Premier</a:t>
            </a:r>
            <a:r>
              <a:rPr lang="es-ES" sz="20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spc="-25" dirty="0" err="1">
                <a:solidFill>
                  <a:srgbClr val="1B5FA7"/>
                </a:solidFill>
                <a:latin typeface="+mn-lt"/>
                <a:cs typeface="Calibri"/>
              </a:rPr>
              <a:t>One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4-DisponibilidadServidor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026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>
                <a:solidFill>
                  <a:srgbClr val="1B5FA7"/>
                </a:solidFill>
              </a:rPr>
              <a:t>4</a:t>
            </a:r>
            <a:r>
              <a:rPr sz="2800" spc="-25" dirty="0">
                <a:solidFill>
                  <a:srgbClr val="1B5FA7"/>
                </a:solidFill>
              </a:rPr>
              <a:t>.</a:t>
            </a:r>
            <a:r>
              <a:rPr sz="2800" spc="-10" dirty="0" err="1">
                <a:solidFill>
                  <a:srgbClr val="1B5FA7"/>
                </a:solidFill>
              </a:rPr>
              <a:t>Dispon</a:t>
            </a:r>
            <a:r>
              <a:rPr lang="es-ES" sz="2800" spc="-10" dirty="0">
                <a:solidFill>
                  <a:srgbClr val="1B5FA7"/>
                </a:solidFill>
              </a:rPr>
              <a:t>i</a:t>
            </a:r>
            <a:r>
              <a:rPr sz="2800" spc="-10" dirty="0" err="1">
                <a:solidFill>
                  <a:srgbClr val="1B5FA7"/>
                </a:solidFill>
              </a:rPr>
              <a:t>bilidad</a:t>
            </a:r>
            <a:r>
              <a:rPr sz="2800" spc="-7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Servidores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301D7C-ED73-47CC-A911-1BC75F7022C6}"/>
              </a:ext>
            </a:extLst>
          </p:cNvPr>
          <p:cNvSpPr/>
          <p:nvPr userDrawn="1"/>
        </p:nvSpPr>
        <p:spPr>
          <a:xfrm>
            <a:off x="3565580" y="5296933"/>
            <a:ext cx="5055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*Disponibilidad del 100% de los host 1 al 6.</a:t>
            </a:r>
            <a:endParaRPr lang="es-ES" sz="1600" dirty="0">
              <a:solidFill>
                <a:srgbClr val="7E7E7E"/>
              </a:solidFill>
            </a:endParaRPr>
          </a:p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*Porcentaje de uso en las </a:t>
            </a:r>
            <a:r>
              <a:rPr lang="es-ES" sz="1600" dirty="0" err="1">
                <a:solidFill>
                  <a:srgbClr val="7E7E7E"/>
                </a:solidFill>
                <a:effectLst/>
              </a:rPr>
              <a:t>CPUs</a:t>
            </a:r>
            <a:r>
              <a:rPr lang="es-ES" sz="1600" dirty="0">
                <a:solidFill>
                  <a:srgbClr val="7E7E7E"/>
                </a:solidFill>
                <a:effectLst/>
              </a:rPr>
              <a:t> de los host 21 al 26.</a:t>
            </a:r>
            <a:endParaRPr lang="es-ES" sz="1600" dirty="0">
              <a:solidFill>
                <a:srgbClr val="7E7E7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4C5310-6D04-4E01-8662-8273B805E5DC}"/>
              </a:ext>
            </a:extLst>
          </p:cNvPr>
          <p:cNvSpPr/>
          <p:nvPr userDrawn="1"/>
        </p:nvSpPr>
        <p:spPr>
          <a:xfrm>
            <a:off x="8142717" y="6209878"/>
            <a:ext cx="1809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SolarWinds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171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-15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Servidores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4-DisponibilidadServidore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/>
              <a:t>4</a:t>
            </a:r>
            <a:r>
              <a:rPr sz="2800" spc="-25" dirty="0"/>
              <a:t>.</a:t>
            </a:r>
            <a:r>
              <a:rPr lang="es-MX" sz="2800" spc="-10" dirty="0"/>
              <a:t>D</a:t>
            </a:r>
            <a:r>
              <a:rPr sz="2800" spc="-10" dirty="0" err="1"/>
              <a:t>isponibilidad</a:t>
            </a:r>
            <a:r>
              <a:rPr sz="2800" spc="-70" dirty="0"/>
              <a:t> </a:t>
            </a:r>
            <a:r>
              <a:rPr sz="2800" spc="-10" dirty="0"/>
              <a:t>Servidores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3900BB-1B7D-4554-8085-9A5C83F81EFC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7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2216" y="1456328"/>
            <a:ext cx="9847569" cy="43766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5-VestaAnalytic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25995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>
                <a:solidFill>
                  <a:srgbClr val="1B5FA7"/>
                </a:solidFill>
              </a:rPr>
              <a:t>5.</a:t>
            </a:r>
            <a:r>
              <a:rPr lang="es-MX" sz="2800" spc="-50" dirty="0">
                <a:solidFill>
                  <a:srgbClr val="1B5FA7"/>
                </a:solidFill>
              </a:rPr>
              <a:t> </a:t>
            </a:r>
            <a:r>
              <a:rPr lang="es-MX" sz="2800" dirty="0">
                <a:solidFill>
                  <a:srgbClr val="1B5FA7"/>
                </a:solidFill>
              </a:rPr>
              <a:t>Vesta</a:t>
            </a:r>
            <a:r>
              <a:rPr lang="es-MX" sz="2800" spc="-6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Informacion-txt">
            <a:extLst>
              <a:ext uri="{FF2B5EF4-FFF2-40B4-BE49-F238E27FC236}">
                <a16:creationId xmlns:a16="http://schemas.microsoft.com/office/drawing/2014/main" id="{5CDDF090-F9D3-4D93-8FCB-F5ADDF45E770}"/>
              </a:ext>
            </a:extLst>
          </p:cNvPr>
          <p:cNvSpPr/>
          <p:nvPr userDrawn="1"/>
        </p:nvSpPr>
        <p:spPr>
          <a:xfrm>
            <a:off x="1018169" y="931957"/>
            <a:ext cx="3954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Estadística general de llamadas por hora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80A4A90-ADFD-4710-B91E-1E26905633A9}"/>
              </a:ext>
            </a:extLst>
          </p:cNvPr>
          <p:cNvSpPr/>
          <p:nvPr userDrawn="1"/>
        </p:nvSpPr>
        <p:spPr>
          <a:xfrm>
            <a:off x="8142717" y="6209878"/>
            <a:ext cx="1599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332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06" userDrawn="1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2774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6-DisponibilidadGrabadoraVERINT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527605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6.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5" dirty="0"/>
              <a:t> </a:t>
            </a:r>
            <a:r>
              <a:rPr lang="es-MX" sz="2800" spc="-10" dirty="0"/>
              <a:t>VERINT</a:t>
            </a:r>
            <a:endParaRPr sz="2800" spc="-10" dirty="0"/>
          </a:p>
        </p:txBody>
      </p:sp>
      <p:sp>
        <p:nvSpPr>
          <p:cNvPr id="10" name="img-Marco-D17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img-Marco-D17-2">
            <a:extLst>
              <a:ext uri="{FF2B5EF4-FFF2-40B4-BE49-F238E27FC236}">
                <a16:creationId xmlns:a16="http://schemas.microsoft.com/office/drawing/2014/main" id="{72BEABAA-7CB5-4FA1-B7D2-5A9CB7E39EF1}"/>
              </a:ext>
            </a:extLst>
          </p:cNvPr>
          <p:cNvSpPr/>
          <p:nvPr userDrawn="1"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GrabacionesLlamadasSUR">
            <a:extLst>
              <a:ext uri="{FF2B5EF4-FFF2-40B4-BE49-F238E27FC236}">
                <a16:creationId xmlns:a16="http://schemas.microsoft.com/office/drawing/2014/main" id="{82AC3C06-057A-4B2D-B161-B7C03E213F15}"/>
              </a:ext>
            </a:extLst>
          </p:cNvPr>
          <p:cNvSpPr/>
          <p:nvPr userDrawn="1"/>
        </p:nvSpPr>
        <p:spPr>
          <a:xfrm>
            <a:off x="1060450" y="939284"/>
            <a:ext cx="2638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SUR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4" name="Nota-txt">
            <a:extLst>
              <a:ext uri="{FF2B5EF4-FFF2-40B4-BE49-F238E27FC236}">
                <a16:creationId xmlns:a16="http://schemas.microsoft.com/office/drawing/2014/main" id="{A0ED07AE-916A-4161-8A77-DCC451280680}"/>
              </a:ext>
            </a:extLst>
          </p:cNvPr>
          <p:cNvSpPr txBox="1"/>
          <p:nvPr userDrawn="1"/>
        </p:nvSpPr>
        <p:spPr>
          <a:xfrm>
            <a:off x="8289163" y="4906365"/>
            <a:ext cx="2847148" cy="9015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0"/>
              </a:spcBef>
            </a:pPr>
            <a:r>
              <a:rPr sz="1400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400" spc="-3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realiza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revisión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  <a:p>
            <a:pPr marL="24765" marR="5080" indent="-12700" algn="just">
              <a:lnSpc>
                <a:spcPct val="100000"/>
              </a:lnSpc>
              <a:spcBef>
                <a:spcPts val="11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grabaciones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agencia CRUE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7E7E7E"/>
                </a:solidFill>
                <a:latin typeface="Calibri"/>
                <a:cs typeface="Calibri"/>
              </a:rPr>
              <a:t>corte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ES" sz="1400" spc="-10" dirty="0">
                <a:solidFill>
                  <a:srgbClr val="7E7E7E"/>
                </a:solidFill>
                <a:latin typeface="Calibri"/>
                <a:cs typeface="Calibri"/>
              </a:rPr>
              <a:t>20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:00,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encuentran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normalidad.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18" name="GrabacionesLlamadasSUR">
            <a:extLst>
              <a:ext uri="{FF2B5EF4-FFF2-40B4-BE49-F238E27FC236}">
                <a16:creationId xmlns:a16="http://schemas.microsoft.com/office/drawing/2014/main" id="{FB8E90DC-8954-496F-968C-EA970691F361}"/>
              </a:ext>
            </a:extLst>
          </p:cNvPr>
          <p:cNvSpPr/>
          <p:nvPr userDrawn="1"/>
        </p:nvSpPr>
        <p:spPr>
          <a:xfrm>
            <a:off x="1071085" y="3602313"/>
            <a:ext cx="2783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B8ED17-B8D9-4515-9AFF-A820D640A2FE}"/>
              </a:ext>
            </a:extLst>
          </p:cNvPr>
          <p:cNvSpPr/>
          <p:nvPr userDrawn="1"/>
        </p:nvSpPr>
        <p:spPr>
          <a:xfrm>
            <a:off x="8142717" y="6209878"/>
            <a:ext cx="14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VERINT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1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BoxC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16563" y="935744"/>
            <a:ext cx="11588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RedBox</a:t>
            </a:r>
            <a:r>
              <a:rPr lang="es-ES" sz="2000" spc="-25" dirty="0">
                <a:solidFill>
                  <a:srgbClr val="1B5FA7"/>
                </a:solidFill>
                <a:latin typeface="+mn-lt"/>
                <a:cs typeface="Calibri"/>
              </a:rPr>
              <a:t> C4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7-DisponibilidadGrabadoraRedBox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3427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7.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0" dirty="0"/>
              <a:t> </a:t>
            </a:r>
            <a:r>
              <a:rPr lang="es-MX" sz="2800" spc="-10" dirty="0" err="1"/>
              <a:t>RedBox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BCBA7-5DB9-4068-B79E-94AD4225E60B}"/>
              </a:ext>
            </a:extLst>
          </p:cNvPr>
          <p:cNvSpPr/>
          <p:nvPr userDrawn="1"/>
        </p:nvSpPr>
        <p:spPr>
          <a:xfrm>
            <a:off x="2672862" y="5209242"/>
            <a:ext cx="68462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Datos no archivados “0%”: Grabaciones correctamente almacenadas en la SAN. Utilización del grabador: Porcentaje de canales siendo utilizados en tiempo real. Llamadas siendo grabadas: Cantidad de llamadas siendo grabadas en tiempo 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B5AB63-B58E-4543-8842-ED7A961996C7}"/>
              </a:ext>
            </a:extLst>
          </p:cNvPr>
          <p:cNvSpPr/>
          <p:nvPr userDrawn="1"/>
        </p:nvSpPr>
        <p:spPr>
          <a:xfrm>
            <a:off x="8142717" y="6209878"/>
            <a:ext cx="2475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e-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-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RedBox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742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9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6608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8.</a:t>
            </a:r>
            <a:r>
              <a:rPr lang="es-ES" sz="2800" spc="-60" dirty="0"/>
              <a:t> </a:t>
            </a:r>
            <a:r>
              <a:rPr lang="es-ES" sz="2800" spc="-20" dirty="0"/>
              <a:t>Procesamiento</a:t>
            </a:r>
            <a:r>
              <a:rPr lang="es-ES" sz="2800" spc="-85" dirty="0"/>
              <a:t> </a:t>
            </a:r>
            <a:r>
              <a:rPr lang="es-ES" sz="2800" dirty="0"/>
              <a:t>BD</a:t>
            </a:r>
            <a:r>
              <a:rPr lang="es-ES" sz="2800" spc="-70" dirty="0"/>
              <a:t> </a:t>
            </a:r>
            <a:r>
              <a:rPr lang="es-ES" sz="2800" spc="-10" dirty="0"/>
              <a:t>Producción</a:t>
            </a:r>
            <a:r>
              <a:rPr lang="es-ES" sz="2800" spc="-70" dirty="0"/>
              <a:t> </a:t>
            </a:r>
            <a:r>
              <a:rPr lang="es-ES" sz="2800" spc="-10" dirty="0" err="1"/>
              <a:t>PremierOne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76189C-5910-4FDC-9B2D-BF0D77A06126}"/>
              </a:ext>
            </a:extLst>
          </p:cNvPr>
          <p:cNvSpPr/>
          <p:nvPr userDrawn="1"/>
        </p:nvSpPr>
        <p:spPr>
          <a:xfrm>
            <a:off x="8142717" y="6209878"/>
            <a:ext cx="1498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30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4322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9.</a:t>
            </a:r>
            <a:r>
              <a:rPr lang="es-MX" sz="2800" spc="-114" dirty="0"/>
              <a:t> </a:t>
            </a:r>
            <a:r>
              <a:rPr lang="es-MX" sz="2800" dirty="0"/>
              <a:t>Estado</a:t>
            </a:r>
            <a:r>
              <a:rPr lang="es-MX" sz="2800" spc="-120" dirty="0"/>
              <a:t> </a:t>
            </a:r>
            <a:r>
              <a:rPr lang="es-MX" sz="2800" spc="-20" dirty="0"/>
              <a:t>Arquitectura</a:t>
            </a:r>
            <a:r>
              <a:rPr lang="es-MX" sz="2800" spc="-75" dirty="0"/>
              <a:t> </a:t>
            </a:r>
            <a:r>
              <a:rPr lang="es-MX" sz="2800" spc="-10" dirty="0"/>
              <a:t>MITEL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EstadoServidor-txt">
            <a:extLst>
              <a:ext uri="{FF2B5EF4-FFF2-40B4-BE49-F238E27FC236}">
                <a16:creationId xmlns:a16="http://schemas.microsoft.com/office/drawing/2014/main" id="{270C6575-B7C6-4A73-B756-C5DE947DDE4A}"/>
              </a:ext>
            </a:extLst>
          </p:cNvPr>
          <p:cNvSpPr/>
          <p:nvPr userDrawn="1"/>
        </p:nvSpPr>
        <p:spPr>
          <a:xfrm>
            <a:off x="1001713" y="938473"/>
            <a:ext cx="10188575" cy="1024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Estado</a:t>
            </a:r>
            <a:r>
              <a:rPr lang="es-ES" sz="16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del</a:t>
            </a:r>
            <a:r>
              <a:rPr lang="es-ES" sz="1600" spc="-4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1B5FA7"/>
                </a:solidFill>
                <a:latin typeface="+mn-lt"/>
                <a:cs typeface="Calibri"/>
              </a:rPr>
              <a:t>servidor</a:t>
            </a:r>
            <a:endParaRPr lang="es-ES" sz="1600" dirty="0">
              <a:solidFill>
                <a:srgbClr val="1B5FA7"/>
              </a:solidFill>
              <a:latin typeface="+mn-lt"/>
              <a:cs typeface="Calibri"/>
            </a:endParaRPr>
          </a:p>
          <a:p>
            <a:pPr marL="56515" marR="5080" indent="-5080">
              <a:lnSpc>
                <a:spcPts val="1500"/>
              </a:lnSpc>
              <a:spcBef>
                <a:spcPts val="780"/>
              </a:spcBef>
            </a:pP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 evidencia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solución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que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conforma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sistema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grabación</a:t>
            </a:r>
            <a:r>
              <a:rPr lang="es-ES" sz="1600" spc="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contingencia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MITEL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firewall</a:t>
            </a:r>
            <a:r>
              <a:rPr lang="es-ES" sz="1600" spc="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operando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normalidad,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presentando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un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rendimiento optimo,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disponibilidad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los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servicios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críticos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garantizando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estabilidad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3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red,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sin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afectaciones.</a:t>
            </a:r>
            <a:endParaRPr lang="es-ES" sz="18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E8E5DF-FBB0-4C2F-8BEA-3DECD28943C5}"/>
              </a:ext>
            </a:extLst>
          </p:cNvPr>
          <p:cNvSpPr/>
          <p:nvPr userDrawn="1"/>
        </p:nvSpPr>
        <p:spPr>
          <a:xfrm>
            <a:off x="8148638" y="6209878"/>
            <a:ext cx="3201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-4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Emonitor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14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513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0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10.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497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Cantidad de llamadas por operador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B0C0AC-B4A2-4BD2-B9DD-B80F09F370B5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1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11.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2091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Transferencia a </a:t>
            </a:r>
            <a:r>
              <a:rPr lang="es-ES" sz="1800" b="0" dirty="0" err="1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sz="1800" b="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55787D-7364-422F-BF75-D13364EA3AF0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530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2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12.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4126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Detalles de estado de llamadas del agente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BBA9D3-3BDE-4639-A1AD-1D15BC956DFF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899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3-ConsumoInternetCanalPrincipal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820023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13.</a:t>
            </a:r>
            <a:r>
              <a:rPr lang="es-ES" sz="2800" spc="-95" dirty="0"/>
              <a:t> </a:t>
            </a:r>
            <a:r>
              <a:rPr lang="es-ES" sz="2800" dirty="0"/>
              <a:t>Consumo</a:t>
            </a:r>
            <a:r>
              <a:rPr lang="es-ES" sz="2800" spc="-95" dirty="0"/>
              <a:t> </a:t>
            </a:r>
            <a:r>
              <a:rPr lang="es-ES" sz="2800" dirty="0"/>
              <a:t>internet</a:t>
            </a:r>
            <a:r>
              <a:rPr lang="es-ES" sz="2800" spc="-75" dirty="0"/>
              <a:t> </a:t>
            </a:r>
            <a:r>
              <a:rPr lang="es-ES" sz="2800" dirty="0"/>
              <a:t>canal</a:t>
            </a:r>
            <a:r>
              <a:rPr lang="es-ES" sz="2800" spc="-80" dirty="0"/>
              <a:t> </a:t>
            </a:r>
            <a:r>
              <a:rPr lang="es-ES" sz="2800" dirty="0"/>
              <a:t>principal</a:t>
            </a:r>
            <a:r>
              <a:rPr lang="es-ES" sz="2800" spc="-75" dirty="0"/>
              <a:t> 1 GB </a:t>
            </a:r>
            <a:r>
              <a:rPr lang="es-ES" sz="2800" dirty="0"/>
              <a:t>y</a:t>
            </a:r>
            <a:r>
              <a:rPr lang="es-ES" sz="2800" spc="-80" dirty="0"/>
              <a:t> </a:t>
            </a:r>
            <a:r>
              <a:rPr lang="es-ES" sz="2800" dirty="0" err="1"/>
              <a:t>backup</a:t>
            </a:r>
            <a:r>
              <a:rPr lang="es-ES" sz="2800" spc="-105" dirty="0"/>
              <a:t> 1 GB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8BB1B3-0E63-47BF-8A6E-FAB6BBF4921F}"/>
              </a:ext>
            </a:extLst>
          </p:cNvPr>
          <p:cNvSpPr/>
          <p:nvPr userDrawn="1"/>
        </p:nvSpPr>
        <p:spPr>
          <a:xfrm>
            <a:off x="8148638" y="6209878"/>
            <a:ext cx="1508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MX" sz="1600" spc="-10" dirty="0" err="1">
                <a:solidFill>
                  <a:srgbClr val="7E7E7E"/>
                </a:solidFill>
                <a:latin typeface="+mn-lt"/>
                <a:cs typeface="Calibri"/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321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4-DisponibilidadVPNVESTA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89664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>
                <a:solidFill>
                  <a:srgbClr val="1B5FA7"/>
                </a:solidFill>
              </a:rPr>
              <a:t>14.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60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VPN</a:t>
            </a:r>
            <a:r>
              <a:rPr lang="es-ES" sz="2800" spc="-6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VESTA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FW_CUNI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0C8212-F4F5-496C-BE63-51AD508D875B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49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5-Novedad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221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15.</a:t>
            </a:r>
            <a:r>
              <a:rPr lang="es-ES" sz="2800" spc="-65" dirty="0"/>
              <a:t> </a:t>
            </a:r>
            <a:r>
              <a:rPr lang="es-ES" sz="2800" spc="-10" dirty="0"/>
              <a:t>Novedades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156628-7A36-4F57-936A-BE480BA19288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u="none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u="none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22594-9B08-4F0A-8F62-720E6A6FB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F1F434-470B-4A0B-9519-26A6AC1E4031}"/>
              </a:ext>
            </a:extLst>
          </p:cNvPr>
          <p:cNvSpPr/>
          <p:nvPr userDrawn="1"/>
        </p:nvSpPr>
        <p:spPr>
          <a:xfrm>
            <a:off x="839788" y="2105561"/>
            <a:ext cx="32147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0" spc="-10" dirty="0">
                <a:solidFill>
                  <a:srgbClr val="FFFFFF"/>
                </a:solidFill>
              </a:rPr>
              <a:t>Gracias</a:t>
            </a:r>
            <a:endParaRPr lang="es-ES" sz="8000" dirty="0"/>
          </a:p>
        </p:txBody>
      </p:sp>
    </p:spTree>
    <p:extLst>
      <p:ext uri="{BB962C8B-B14F-4D97-AF65-F5344CB8AC3E}">
        <p14:creationId xmlns:p14="http://schemas.microsoft.com/office/powerpoint/2010/main" val="19113955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231991-B6F9-4E33-B9CF-916AD08916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rasLoQueCreas">
            <a:extLst>
              <a:ext uri="{FF2B5EF4-FFF2-40B4-BE49-F238E27FC236}">
                <a16:creationId xmlns:a16="http://schemas.microsoft.com/office/drawing/2014/main" id="{F3E134CC-26D6-4C2A-A912-C5C8C980558A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7" r:id="rId5"/>
    <p:sldLayoutId id="2147483658" r:id="rId6"/>
    <p:sldLayoutId id="2147483656" r:id="rId7"/>
    <p:sldLayoutId id="2147483660" r:id="rId8"/>
    <p:sldLayoutId id="2147483663" r:id="rId9"/>
    <p:sldLayoutId id="2147483664" r:id="rId10"/>
    <p:sldLayoutId id="2147483665" r:id="rId11"/>
    <p:sldLayoutId id="2147483667" r:id="rId12"/>
    <p:sldLayoutId id="2147483681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52" r:id="rId27"/>
    <p:sldLayoutId id="2147483653" r:id="rId2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083" userDrawn="1">
          <p15:clr>
            <a:srgbClr val="F26B43"/>
          </p15:clr>
        </p15:guide>
        <p15:guide id="4" orient="horz" pos="482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echa">
            <a:extLst>
              <a:ext uri="{FF2B5EF4-FFF2-40B4-BE49-F238E27FC236}">
                <a16:creationId xmlns:a16="http://schemas.microsoft.com/office/drawing/2014/main" id="{47749C0C-BA9B-4C48-B76C-C15316BD7B23}"/>
              </a:ext>
            </a:extLst>
          </p:cNvPr>
          <p:cNvSpPr txBox="1"/>
          <p:nvPr/>
        </p:nvSpPr>
        <p:spPr>
          <a:xfrm>
            <a:off x="3584983" y="4085150"/>
            <a:ext cx="5022034" cy="370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u="sng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076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05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3">
            <a:extLst>
              <a:ext uri="{FF2B5EF4-FFF2-40B4-BE49-F238E27FC236}">
                <a16:creationId xmlns:a16="http://schemas.microsoft.com/office/drawing/2014/main" id="{8AB021A2-739E-4E2E-BFD2-81B70A37A935}"/>
              </a:ext>
            </a:extLst>
          </p:cNvPr>
          <p:cNvSpPr/>
          <p:nvPr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EBOG">
            <a:extLst>
              <a:ext uri="{FF2B5EF4-FFF2-40B4-BE49-F238E27FC236}">
                <a16:creationId xmlns:a16="http://schemas.microsoft.com/office/drawing/2014/main" id="{A3C203BC-251A-42F2-AFA8-806612FC872B}"/>
              </a:ext>
            </a:extLst>
          </p:cNvPr>
          <p:cNvSpPr/>
          <p:nvPr/>
        </p:nvSpPr>
        <p:spPr>
          <a:xfrm>
            <a:off x="1330324" y="5689090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MEBOG: </a:t>
            </a:r>
          </a:p>
        </p:txBody>
      </p:sp>
      <p:sp>
        <p:nvSpPr>
          <p:cNvPr id="4" name="BOMBEROS">
            <a:extLst>
              <a:ext uri="{FF2B5EF4-FFF2-40B4-BE49-F238E27FC236}">
                <a16:creationId xmlns:a16="http://schemas.microsoft.com/office/drawing/2014/main" id="{3C9560E7-3D25-4F70-81B5-BDFE46DBA72D}"/>
              </a:ext>
            </a:extLst>
          </p:cNvPr>
          <p:cNvSpPr/>
          <p:nvPr/>
        </p:nvSpPr>
        <p:spPr>
          <a:xfrm>
            <a:off x="1330324" y="5258203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BOMBEROS: </a:t>
            </a:r>
          </a:p>
        </p:txBody>
      </p:sp>
      <p:sp>
        <p:nvSpPr>
          <p:cNvPr id="5" name="IDIGER">
            <a:extLst>
              <a:ext uri="{FF2B5EF4-FFF2-40B4-BE49-F238E27FC236}">
                <a16:creationId xmlns:a16="http://schemas.microsoft.com/office/drawing/2014/main" id="{C628EC5D-2C91-4F88-A8AF-B5AA592E5DAE}"/>
              </a:ext>
            </a:extLst>
          </p:cNvPr>
          <p:cNvSpPr/>
          <p:nvPr/>
        </p:nvSpPr>
        <p:spPr>
          <a:xfrm>
            <a:off x="1330324" y="4801958"/>
            <a:ext cx="1249914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IDIGER: </a:t>
            </a:r>
          </a:p>
        </p:txBody>
      </p:sp>
      <p:sp>
        <p:nvSpPr>
          <p:cNvPr id="6" name="MOVILIDAD">
            <a:extLst>
              <a:ext uri="{FF2B5EF4-FFF2-40B4-BE49-F238E27FC236}">
                <a16:creationId xmlns:a16="http://schemas.microsoft.com/office/drawing/2014/main" id="{476CEBFA-5C34-4031-A704-DC48A7938745}"/>
              </a:ext>
            </a:extLst>
          </p:cNvPr>
          <p:cNvSpPr/>
          <p:nvPr/>
        </p:nvSpPr>
        <p:spPr>
          <a:xfrm>
            <a:off x="1330325" y="4366914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MOVILIDAD: </a:t>
            </a:r>
          </a:p>
        </p:txBody>
      </p:sp>
      <p:sp>
        <p:nvSpPr>
          <p:cNvPr id="7" name="CRUE">
            <a:extLst>
              <a:ext uri="{FF2B5EF4-FFF2-40B4-BE49-F238E27FC236}">
                <a16:creationId xmlns:a16="http://schemas.microsoft.com/office/drawing/2014/main" id="{F4E1E12B-23A0-40E1-95A9-6143EB9ADA59}"/>
              </a:ext>
            </a:extLst>
          </p:cNvPr>
          <p:cNvSpPr/>
          <p:nvPr/>
        </p:nvSpPr>
        <p:spPr>
          <a:xfrm>
            <a:off x="1330325" y="3936027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CRUE: </a:t>
            </a:r>
          </a:p>
        </p:txBody>
      </p:sp>
      <p:sp>
        <p:nvSpPr>
          <p:cNvPr id="8" name="SUR">
            <a:extLst>
              <a:ext uri="{FF2B5EF4-FFF2-40B4-BE49-F238E27FC236}">
                <a16:creationId xmlns:a16="http://schemas.microsoft.com/office/drawing/2014/main" id="{E5D51108-13A2-4FFE-836C-A13BB885E67D}"/>
              </a:ext>
            </a:extLst>
          </p:cNvPr>
          <p:cNvSpPr/>
          <p:nvPr/>
        </p:nvSpPr>
        <p:spPr>
          <a:xfrm>
            <a:off x="1330324" y="3513932"/>
            <a:ext cx="1239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ES" altLang="zh-TW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SUR:</a:t>
            </a:r>
            <a:endParaRPr lang="es-MX" sz="1600" dirty="0">
              <a:solidFill>
                <a:srgbClr val="7E7E7E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86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4">
            <a:extLst>
              <a:ext uri="{FF2B5EF4-FFF2-40B4-BE49-F238E27FC236}">
                <a16:creationId xmlns:a16="http://schemas.microsoft.com/office/drawing/2014/main" id="{41B2B8FC-788F-43C5-A9EC-C2D9CC8DD0C8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198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5">
            <a:extLst>
              <a:ext uri="{FF2B5EF4-FFF2-40B4-BE49-F238E27FC236}">
                <a16:creationId xmlns:a16="http://schemas.microsoft.com/office/drawing/2014/main" id="{D7CE11DE-6DAF-434F-83FB-07FB52A5F5F2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689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6">
            <a:extLst>
              <a:ext uri="{FF2B5EF4-FFF2-40B4-BE49-F238E27FC236}">
                <a16:creationId xmlns:a16="http://schemas.microsoft.com/office/drawing/2014/main" id="{F1ECD46B-B239-492E-BA75-2890BEB7F3A4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05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">
            <a:extLst>
              <a:ext uri="{FF2B5EF4-FFF2-40B4-BE49-F238E27FC236}">
                <a16:creationId xmlns:a16="http://schemas.microsoft.com/office/drawing/2014/main" id="{1D01DC46-D054-4640-B02C-90E957A45200}"/>
              </a:ext>
            </a:extLst>
          </p:cNvPr>
          <p:cNvSpPr/>
          <p:nvPr/>
        </p:nvSpPr>
        <p:spPr>
          <a:xfrm>
            <a:off x="1055687" y="1149791"/>
            <a:ext cx="5638411" cy="454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xt-D7">
            <a:extLst>
              <a:ext uri="{FF2B5EF4-FFF2-40B4-BE49-F238E27FC236}">
                <a16:creationId xmlns:a16="http://schemas.microsoft.com/office/drawing/2014/main" id="{782EFDCA-5A1C-40BF-8D17-B9419B42F25F}"/>
              </a:ext>
            </a:extLst>
          </p:cNvPr>
          <p:cNvSpPr txBox="1"/>
          <p:nvPr/>
        </p:nvSpPr>
        <p:spPr>
          <a:xfrm>
            <a:off x="6708619" y="1015998"/>
            <a:ext cx="4327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63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8">
            <a:extLst>
              <a:ext uri="{FF2B5EF4-FFF2-40B4-BE49-F238E27FC236}">
                <a16:creationId xmlns:a16="http://schemas.microsoft.com/office/drawing/2014/main" id="{A819A4EF-5378-44E6-9EB7-AC3B20E01B3F}"/>
              </a:ext>
            </a:extLst>
          </p:cNvPr>
          <p:cNvSpPr/>
          <p:nvPr/>
        </p:nvSpPr>
        <p:spPr>
          <a:xfrm>
            <a:off x="1261586" y="2573265"/>
            <a:ext cx="9668828" cy="17114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81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9-1">
            <a:extLst>
              <a:ext uri="{FF2B5EF4-FFF2-40B4-BE49-F238E27FC236}">
                <a16:creationId xmlns:a16="http://schemas.microsoft.com/office/drawing/2014/main" id="{39F5A094-6E80-42EC-9BD5-AF8D12A8F6C4}"/>
              </a:ext>
            </a:extLst>
          </p:cNvPr>
          <p:cNvSpPr/>
          <p:nvPr/>
        </p:nvSpPr>
        <p:spPr>
          <a:xfrm>
            <a:off x="1198684" y="1436460"/>
            <a:ext cx="5510091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9-2">
            <a:extLst>
              <a:ext uri="{FF2B5EF4-FFF2-40B4-BE49-F238E27FC236}">
                <a16:creationId xmlns:a16="http://schemas.microsoft.com/office/drawing/2014/main" id="{CF6B7B07-901B-4A7E-8C0B-D20A66F47ED8}"/>
              </a:ext>
            </a:extLst>
          </p:cNvPr>
          <p:cNvSpPr/>
          <p:nvPr/>
        </p:nvSpPr>
        <p:spPr>
          <a:xfrm>
            <a:off x="6851650" y="1436460"/>
            <a:ext cx="4141666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072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0">
            <a:extLst>
              <a:ext uri="{FF2B5EF4-FFF2-40B4-BE49-F238E27FC236}">
                <a16:creationId xmlns:a16="http://schemas.microsoft.com/office/drawing/2014/main" id="{1757AEB0-6C22-4C26-A433-A0354CEF7827}"/>
              </a:ext>
            </a:extLst>
          </p:cNvPr>
          <p:cNvSpPr/>
          <p:nvPr/>
        </p:nvSpPr>
        <p:spPr>
          <a:xfrm>
            <a:off x="1261586" y="2473697"/>
            <a:ext cx="9668828" cy="19106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854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1">
            <a:extLst>
              <a:ext uri="{FF2B5EF4-FFF2-40B4-BE49-F238E27FC236}">
                <a16:creationId xmlns:a16="http://schemas.microsoft.com/office/drawing/2014/main" id="{E53836B4-7506-4CF9-B160-8234AD0AC9E8}"/>
              </a:ext>
            </a:extLst>
          </p:cNvPr>
          <p:cNvSpPr/>
          <p:nvPr/>
        </p:nvSpPr>
        <p:spPr>
          <a:xfrm>
            <a:off x="1261586" y="2258801"/>
            <a:ext cx="9668828" cy="23403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059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2">
            <a:extLst>
              <a:ext uri="{FF2B5EF4-FFF2-40B4-BE49-F238E27FC236}">
                <a16:creationId xmlns:a16="http://schemas.microsoft.com/office/drawing/2014/main" id="{5B404EAB-6E91-4357-9144-344A2F7F0361}"/>
              </a:ext>
            </a:extLst>
          </p:cNvPr>
          <p:cNvSpPr/>
          <p:nvPr/>
        </p:nvSpPr>
        <p:spPr>
          <a:xfrm>
            <a:off x="1261586" y="1463256"/>
            <a:ext cx="9668828" cy="3931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762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3">
            <a:extLst>
              <a:ext uri="{FF2B5EF4-FFF2-40B4-BE49-F238E27FC236}">
                <a16:creationId xmlns:a16="http://schemas.microsoft.com/office/drawing/2014/main" id="{A7D1FACB-B5C1-4F7B-8931-F744C0C83212}"/>
              </a:ext>
            </a:extLst>
          </p:cNvPr>
          <p:cNvSpPr/>
          <p:nvPr/>
        </p:nvSpPr>
        <p:spPr>
          <a:xfrm>
            <a:off x="1261586" y="1427105"/>
            <a:ext cx="9668828" cy="4003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34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4">
            <a:extLst>
              <a:ext uri="{FF2B5EF4-FFF2-40B4-BE49-F238E27FC236}">
                <a16:creationId xmlns:a16="http://schemas.microsoft.com/office/drawing/2014/main" id="{1CAE68E4-46BA-4384-8802-1FED6133E19B}"/>
              </a:ext>
            </a:extLst>
          </p:cNvPr>
          <p:cNvSpPr/>
          <p:nvPr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494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5">
            <a:extLst>
              <a:ext uri="{FF2B5EF4-FFF2-40B4-BE49-F238E27FC236}">
                <a16:creationId xmlns:a16="http://schemas.microsoft.com/office/drawing/2014/main" id="{EE0D0A52-F1E1-4350-8E16-8175C34F3BFA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2031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6">
            <a:extLst>
              <a:ext uri="{FF2B5EF4-FFF2-40B4-BE49-F238E27FC236}">
                <a16:creationId xmlns:a16="http://schemas.microsoft.com/office/drawing/2014/main" id="{A8D6FA72-C93C-4ED1-A3CE-D0C7B6F7180C}"/>
              </a:ext>
            </a:extLst>
          </p:cNvPr>
          <p:cNvSpPr/>
          <p:nvPr/>
        </p:nvSpPr>
        <p:spPr>
          <a:xfrm>
            <a:off x="1233487" y="2433638"/>
            <a:ext cx="9725026" cy="19907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1307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7-1">
            <a:extLst>
              <a:ext uri="{FF2B5EF4-FFF2-40B4-BE49-F238E27FC236}">
                <a16:creationId xmlns:a16="http://schemas.microsoft.com/office/drawing/2014/main" id="{BA1EFDBD-E351-4F87-BF34-428E9625BD30}"/>
              </a:ext>
            </a:extLst>
          </p:cNvPr>
          <p:cNvSpPr/>
          <p:nvPr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7-2">
            <a:extLst>
              <a:ext uri="{FF2B5EF4-FFF2-40B4-BE49-F238E27FC236}">
                <a16:creationId xmlns:a16="http://schemas.microsoft.com/office/drawing/2014/main" id="{97C9B388-6999-42D8-A813-0E5FAEC2FD12}"/>
              </a:ext>
            </a:extLst>
          </p:cNvPr>
          <p:cNvSpPr/>
          <p:nvPr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709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8">
            <a:extLst>
              <a:ext uri="{FF2B5EF4-FFF2-40B4-BE49-F238E27FC236}">
                <a16:creationId xmlns:a16="http://schemas.microsoft.com/office/drawing/2014/main" id="{4C85B054-7157-423A-BB19-96ADB20B0139}"/>
              </a:ext>
            </a:extLst>
          </p:cNvPr>
          <p:cNvSpPr/>
          <p:nvPr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8534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9">
            <a:extLst>
              <a:ext uri="{FF2B5EF4-FFF2-40B4-BE49-F238E27FC236}">
                <a16:creationId xmlns:a16="http://schemas.microsoft.com/office/drawing/2014/main" id="{7689120A-6FF6-44AF-B846-1D15C73E649F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389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0">
            <a:extLst>
              <a:ext uri="{FF2B5EF4-FFF2-40B4-BE49-F238E27FC236}">
                <a16:creationId xmlns:a16="http://schemas.microsoft.com/office/drawing/2014/main" id="{71899F41-D454-4F5A-A976-A687AF0D21ED}"/>
              </a:ext>
            </a:extLst>
          </p:cNvPr>
          <p:cNvSpPr/>
          <p:nvPr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462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1">
            <a:extLst>
              <a:ext uri="{FF2B5EF4-FFF2-40B4-BE49-F238E27FC236}">
                <a16:creationId xmlns:a16="http://schemas.microsoft.com/office/drawing/2014/main" id="{7BF4C818-26A1-4410-9CC2-680FACF41A57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406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2">
            <a:extLst>
              <a:ext uri="{FF2B5EF4-FFF2-40B4-BE49-F238E27FC236}">
                <a16:creationId xmlns:a16="http://schemas.microsoft.com/office/drawing/2014/main" id="{79E568FC-7B20-440F-8A0A-4ABDE3826C24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5898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3">
            <a:extLst>
              <a:ext uri="{FF2B5EF4-FFF2-40B4-BE49-F238E27FC236}">
                <a16:creationId xmlns:a16="http://schemas.microsoft.com/office/drawing/2014/main" id="{8F225854-950D-4BB5-8F2C-5A1597D9F3A3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7604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4">
            <a:extLst>
              <a:ext uri="{FF2B5EF4-FFF2-40B4-BE49-F238E27FC236}">
                <a16:creationId xmlns:a16="http://schemas.microsoft.com/office/drawing/2014/main" id="{F936EF4E-B923-468C-BC98-680F4A66605D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036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5">
            <a:extLst>
              <a:ext uri="{FF2B5EF4-FFF2-40B4-BE49-F238E27FC236}">
                <a16:creationId xmlns:a16="http://schemas.microsoft.com/office/drawing/2014/main" id="{834C5E21-287D-48EC-8F6B-35C2A9F92028}"/>
              </a:ext>
            </a:extLst>
          </p:cNvPr>
          <p:cNvSpPr/>
          <p:nvPr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2047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118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05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591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 (Fondo A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12</Words>
  <Application>Microsoft Office PowerPoint</Application>
  <PresentationFormat>Panorámica</PresentationFormat>
  <Paragraphs>6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新細明體</vt:lpstr>
      <vt:lpstr>Arial</vt:lpstr>
      <vt:lpstr>Calibri</vt:lpstr>
      <vt:lpstr>Portada (Fondo 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Alvaro Rojas Rincon</dc:creator>
  <cp:lastModifiedBy>Luis Alvaro Rojas Rincon</cp:lastModifiedBy>
  <cp:revision>310</cp:revision>
  <dcterms:created xsi:type="dcterms:W3CDTF">2026-02-18T16:16:02Z</dcterms:created>
  <dcterms:modified xsi:type="dcterms:W3CDTF">2026-03-12T01:30:40Z</dcterms:modified>
</cp:coreProperties>
</file>